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3044"/>
          </a:solidFill>
          <a:ln w="12700">
            <a:solidFill>
              <a:srgbClr val="163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E2E8F0">
              <a:alpha val="75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51560"/>
            <a:ext cx="1190549" cy="1497787"/>
          </a:xfrm>
          <a:prstGeom prst="rect">
            <a:avLst/>
          </a:prstGeom>
          <a:solidFill>
            <a:srgbClr val="FFFFFF"/>
          </a:solidFill>
          <a:ln w="25400">
            <a:solidFill>
              <a:srgbClr val="163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6424" y="1397203"/>
            <a:ext cx="806501" cy="0"/>
          </a:xfrm>
          <a:prstGeom prst="line">
            <a:avLst/>
          </a:prstGeom>
          <a:noFill/>
          <a:ln w="15240">
            <a:solidFill>
              <a:srgbClr val="16304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6424" y="1704442"/>
            <a:ext cx="806501" cy="0"/>
          </a:xfrm>
          <a:prstGeom prst="line">
            <a:avLst/>
          </a:prstGeom>
          <a:noFill/>
          <a:ln w="15240">
            <a:solidFill>
              <a:srgbClr val="16304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6424" y="2011680"/>
            <a:ext cx="614477" cy="0"/>
          </a:xfrm>
          <a:prstGeom prst="line">
            <a:avLst/>
          </a:prstGeom>
          <a:noFill/>
          <a:ln w="15240">
            <a:solidFill>
              <a:srgbClr val="16304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920240" y="1691640"/>
            <a:ext cx="1126541" cy="1126541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5029" y="2556662"/>
            <a:ext cx="563270" cy="563270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52360" y="1143000"/>
            <a:ext cx="868680" cy="86868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261872"/>
            <a:ext cx="868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8595360" y="1325880"/>
            <a:ext cx="868680" cy="8686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444752"/>
            <a:ext cx="868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9738360" y="1508760"/>
            <a:ext cx="868680" cy="86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1627632"/>
            <a:ext cx="868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97840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文字題實戰：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判斷加法、減法、乘法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60120" y="4791456"/>
            <a:ext cx="86868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圈出重點字眼，找出正確運算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7552" y="5486400"/>
            <a:ext cx="6949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教師帶做版｜少講理論，多做題目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做題四步法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每一題都先看意思，再決定運算。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057400" cy="2148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1572768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673352"/>
            <a:ext cx="731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2907792"/>
            <a:ext cx="1627632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找「一共、剩下、每盒」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907792" y="2907792"/>
            <a:ext cx="475488" cy="0"/>
          </a:xfrm>
          <a:prstGeom prst="line">
            <a:avLst/>
          </a:prstGeom>
          <a:noFill/>
          <a:ln w="31750">
            <a:solidFill>
              <a:srgbClr val="1630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0440" y="1874520"/>
            <a:ext cx="2057400" cy="2148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B8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78808" y="1572768"/>
            <a:ext cx="731520" cy="73152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8808" y="1673352"/>
            <a:ext cx="731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65760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找出題目資料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30752" y="2907792"/>
            <a:ext cx="1627632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有哪些數字？代表甚麼？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96712" y="2907792"/>
            <a:ext cx="475488" cy="0"/>
          </a:xfrm>
          <a:prstGeom prst="line">
            <a:avLst/>
          </a:prstGeom>
          <a:noFill/>
          <a:ln w="31750">
            <a:solidFill>
              <a:srgbClr val="16304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1874520"/>
            <a:ext cx="2057400" cy="2148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67728" y="1572768"/>
            <a:ext cx="731520" cy="7315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673352"/>
            <a:ext cx="731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644652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判斷數量變化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9672" y="2907792"/>
            <a:ext cx="1627632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合起來、減少、比較、相同組數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485632" y="2907792"/>
            <a:ext cx="475488" cy="0"/>
          </a:xfrm>
          <a:prstGeom prst="line">
            <a:avLst/>
          </a:prstGeom>
          <a:noFill/>
          <a:ln w="31750">
            <a:solidFill>
              <a:srgbClr val="16304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280" y="1874520"/>
            <a:ext cx="2057400" cy="21488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56648" y="1572768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6648" y="1673352"/>
            <a:ext cx="731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23544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選擇運算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08592" y="2907792"/>
            <a:ext cx="1627632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＋、－ 或 ×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13232" y="5074920"/>
            <a:ext cx="409651" cy="409651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3155" y="5389474"/>
            <a:ext cx="204826" cy="204826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325880" y="5166360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提示：不是看到某個字就立即計算，要把整句題目讀完整。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重點字眼總表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用顏色幫助分類，但最後仍要看題目意思。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246120" cy="4251960"/>
          </a:xfrm>
          <a:prstGeom prst="roundRect">
            <a:avLst/>
          </a:prstGeom>
          <a:solidFill>
            <a:srgbClr val="E3F8EB"/>
          </a:solidFill>
          <a:ln w="29210">
            <a:solidFill>
              <a:srgbClr val="1B8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880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33272" y="2587752"/>
            <a:ext cx="265176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一共、共有、合共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再、又、增加、多了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01952" y="4828032"/>
            <a:ext cx="914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300" dirty="0"/>
          </a:p>
        </p:txBody>
      </p:sp>
      <p:sp>
        <p:nvSpPr>
          <p:cNvPr id="12" name="Shape 10"/>
          <p:cNvSpPr/>
          <p:nvPr/>
        </p:nvSpPr>
        <p:spPr>
          <a:xfrm>
            <a:off x="4434840" y="1508760"/>
            <a:ext cx="3246120" cy="4251960"/>
          </a:xfrm>
          <a:prstGeom prst="roundRect">
            <a:avLst/>
          </a:prstGeom>
          <a:solidFill>
            <a:srgbClr val="FFF0D8"/>
          </a:solidFill>
          <a:ln w="2921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83080"/>
            <a:ext cx="2880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36592" y="2587752"/>
            <a:ext cx="265176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剩下、還有、用去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吃了、拿走、賣出、借出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相差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比……多、比……少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605272" y="4828032"/>
            <a:ext cx="914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30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246120" cy="4251960"/>
          </a:xfrm>
          <a:prstGeom prst="roundRect">
            <a:avLst/>
          </a:prstGeom>
          <a:solidFill>
            <a:srgbClr val="E5EFFF"/>
          </a:solidFill>
          <a:ln w="2921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783080"/>
            <a:ext cx="28803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39912" y="2587752"/>
            <a:ext cx="265176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每人、每盒、每袋、每排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每組、每個、一樣多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同樣數量、幾倍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308592" y="4828032"/>
            <a:ext cx="914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8EB"/>
          </a:solidFill>
          <a:ln w="12700">
            <a:solidFill>
              <a:srgbClr val="E3F8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EEAD0">
              <a:alpha val="75000"/>
            </a:srgbClr>
          </a:solidFill>
          <a:ln w="12700">
            <a:solidFill>
              <a:srgbClr val="BEEA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加法例題 1：合起來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課室裏有 12 位男生和 10 位女生。課室裏共有多少位學生？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女生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男生和女生合起來。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B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＋ 10 ＝ 22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417320"/>
            <a:ext cx="1417320" cy="320040"/>
          </a:xfrm>
          <a:prstGeom prst="roundRect">
            <a:avLst/>
          </a:prstGeom>
          <a:solidFill>
            <a:srgbClr val="1B8A5A"/>
          </a:solidFill>
          <a:ln w="12700">
            <a:solidFill>
              <a:srgbClr val="1B8A5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444752"/>
            <a:ext cx="1417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男生 12 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0786" y="182880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79638" y="196047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4134" y="182880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42986" y="196047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7481" y="182880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06333" y="196047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10828" y="182880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196047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74175" y="182880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33027" y="196047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37522" y="182880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96374" y="196047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20786" y="217444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79638" y="230611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84134" y="217444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42986" y="230611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47481" y="217444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06333" y="230611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10828" y="217444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9680" y="230611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74175" y="217444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33027" y="230611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37522" y="217444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96374" y="230611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46720" y="3520440"/>
            <a:ext cx="1417320" cy="320040"/>
          </a:xfrm>
          <a:prstGeom prst="round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3547872"/>
            <a:ext cx="1417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女生 10 位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20786" y="393192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79638" y="406359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84134" y="393192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42986" y="406359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47481" y="393192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06333" y="406359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10828" y="393192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406359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74175" y="393192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33027" y="406359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20786" y="427756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79638" y="440923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84134" y="427756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42986" y="440923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47481" y="427756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06333" y="440923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10828" y="427756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69680" y="440923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74175" y="427756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33027" y="440923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04120" y="3063240"/>
            <a:ext cx="713232" cy="0"/>
          </a:xfrm>
          <a:prstGeom prst="line">
            <a:avLst/>
          </a:prstGeom>
          <a:noFill/>
          <a:ln w="2794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10588752" y="2770632"/>
            <a:ext cx="53035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8EB"/>
          </a:solidFill>
          <a:ln w="12700">
            <a:solidFill>
              <a:srgbClr val="E3F8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EEAD0">
              <a:alpha val="75000"/>
            </a:srgbClr>
          </a:solidFill>
          <a:ln w="12700">
            <a:solidFill>
              <a:srgbClr val="BEEA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加法學生練習 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學生任務：圈出重點字眼，先選運算，再說原因。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115568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88720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115568"/>
            <a:ext cx="1417320" cy="384048"/>
          </a:xfrm>
          <a:prstGeom prst="roundRect">
            <a:avLst/>
          </a:prstGeom>
          <a:solidFill>
            <a:srgbClr val="1B8A5A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88720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182880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3852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書架上有 8 本故事書和 6 本漫畫書。書架上一共有多少本書？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9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97180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406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38544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77456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8736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桌上有 9 個蘋果和 7 個橙。桌上一共有多少個水果？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96519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440680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38544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77456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1417320"/>
            <a:ext cx="3383280" cy="4526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1783080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5874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8405165" y="1783080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48599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717890" y="1783080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61324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9030614" y="1783080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4048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8092440" y="2113178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35874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8405165" y="2113178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48599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8717890" y="2113178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61324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9030614" y="2113178"/>
            <a:ext cx="225857" cy="29535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74048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9646920" y="1783080"/>
            <a:ext cx="225857" cy="295351"/>
          </a:xfrm>
          <a:prstGeom prst="rect">
            <a:avLst/>
          </a:prstGeom>
          <a:solidFill>
            <a:srgbClr val="F472B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90354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9959645" y="1783080"/>
            <a:ext cx="225857" cy="295351"/>
          </a:xfrm>
          <a:prstGeom prst="rect">
            <a:avLst/>
          </a:prstGeom>
          <a:solidFill>
            <a:srgbClr val="F472B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03079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10272370" y="1783080"/>
            <a:ext cx="225857" cy="295351"/>
          </a:xfrm>
          <a:prstGeom prst="rect">
            <a:avLst/>
          </a:prstGeom>
          <a:solidFill>
            <a:srgbClr val="F472B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15804" y="1826514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9646920" y="2113178"/>
            <a:ext cx="225857" cy="295351"/>
          </a:xfrm>
          <a:prstGeom prst="rect">
            <a:avLst/>
          </a:prstGeom>
          <a:solidFill>
            <a:srgbClr val="F472B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90354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9959645" y="2113178"/>
            <a:ext cx="225857" cy="295351"/>
          </a:xfrm>
          <a:prstGeom prst="rect">
            <a:avLst/>
          </a:prstGeom>
          <a:solidFill>
            <a:srgbClr val="F472B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03079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10272370" y="2113178"/>
            <a:ext cx="225857" cy="295351"/>
          </a:xfrm>
          <a:prstGeom prst="rect">
            <a:avLst/>
          </a:prstGeom>
          <a:solidFill>
            <a:srgbClr val="F472B6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15804" y="2156612"/>
            <a:ext cx="0" cy="208483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8092440" y="314370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05368" y="314370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8405165" y="314370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18093" y="314370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8717890" y="314370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30818" y="314370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9030614" y="314370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3543" y="314370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9343339" y="314370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56268" y="314370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8092440" y="347380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05368" y="347380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8405165" y="347380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518093" y="347380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8717890" y="347380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830818" y="347380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9030614" y="347380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43543" y="347380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9646920" y="3143707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59645" y="3143707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72370" y="3143707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85094" y="3143707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646920" y="3473806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59645" y="3473806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272370" y="3473806"/>
            <a:ext cx="225857" cy="22585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8EB"/>
          </a:solidFill>
          <a:ln w="12700">
            <a:solidFill>
              <a:srgbClr val="E3F8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EEAD0">
              <a:alpha val="75000"/>
            </a:srgbClr>
          </a:solidFill>
          <a:ln w="12700">
            <a:solidFill>
              <a:srgbClr val="BEEA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1 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1B8A5A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69164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25880" y="190195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2313432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331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229514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故事書、漫畫書、一共有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" y="2715768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73405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269748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兩種書合起來。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25880" y="3108960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1272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09067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＋ 6 ＝ 14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3232" y="402336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325880" y="423367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25880" y="4645152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462686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蘋果、橙、一共有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5880" y="5047488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50657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50292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兩種水果合起來。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25880" y="5440680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54589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54223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＋ 7 ＝ 16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8EB"/>
          </a:solidFill>
          <a:ln w="12700">
            <a:solidFill>
              <a:srgbClr val="E3F8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EEAD0">
              <a:alpha val="75000"/>
            </a:srgbClr>
          </a:solidFill>
          <a:ln w="12700">
            <a:solidFill>
              <a:srgbClr val="BEEA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加法例題 2：數量增加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小美原有 15 張貼紙，朋友再送她 5 張。小美現在有多少張貼紙？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原有的數量增加了。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B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＋ 5 ＝ 20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103120"/>
            <a:ext cx="640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8833104" y="2679192"/>
            <a:ext cx="914400" cy="0"/>
          </a:xfrm>
          <a:prstGeom prst="line">
            <a:avLst/>
          </a:prstGeom>
          <a:noFill/>
          <a:ln w="3810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9784080" y="2286000"/>
            <a:ext cx="868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再送 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652760" y="2679192"/>
            <a:ext cx="822960" cy="0"/>
          </a:xfrm>
          <a:prstGeom prst="line">
            <a:avLst/>
          </a:prstGeom>
          <a:noFill/>
          <a:ln w="3810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138428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38428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8092440" y="3505810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72246" y="3505810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52053" y="3505810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31859" y="3505810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11666" y="3505810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3801161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72246" y="3801161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52053" y="3801161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31859" y="3801161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11666" y="3801161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2440" y="4096512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2246" y="4096512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2053" y="4096512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31859" y="4096512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1666" y="4096512"/>
            <a:ext cx="202082" cy="20208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95560" y="3505810"/>
            <a:ext cx="202082" cy="20208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75366" y="3505810"/>
            <a:ext cx="202082" cy="20208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55173" y="3505810"/>
            <a:ext cx="202082" cy="20208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34979" y="3505810"/>
            <a:ext cx="202082" cy="20208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314786" y="3505810"/>
            <a:ext cx="202082" cy="20208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8EB"/>
          </a:solidFill>
          <a:ln w="12700">
            <a:solidFill>
              <a:srgbClr val="E3F8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EEAD0">
              <a:alpha val="75000"/>
            </a:srgbClr>
          </a:solidFill>
          <a:ln w="12700">
            <a:solidFill>
              <a:srgbClr val="BEEA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加法學生練習 2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學生任務：圈出重點字眼，先選運算，再說原因。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115568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88720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115568"/>
            <a:ext cx="1417320" cy="384048"/>
          </a:xfrm>
          <a:prstGeom prst="roundRect">
            <a:avLst/>
          </a:prstGeom>
          <a:solidFill>
            <a:srgbClr val="1B8A5A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88720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307592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182880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3852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小明原有 20 元，媽媽再給他 10 元。小明現在有多少元？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9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97180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406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38544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77456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8736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盒子裏原有 13 粒糖，老師又放入 7 粒。盒子裏現在有多少粒糖？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96519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440680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38544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77456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1417320"/>
            <a:ext cx="3383280" cy="4526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9308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8405165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92033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8717890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04758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9030614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17482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8092440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79308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8405165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92033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8717890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04758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9030614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17482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8092440" y="2486711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79308" y="2499741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8405165" y="2486711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92033" y="2499741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9646920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3788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9959645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46513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10272370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59238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10585094" y="1826514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671962" y="1839544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75" name="Shape 73"/>
          <p:cNvSpPr/>
          <p:nvPr/>
        </p:nvSpPr>
        <p:spPr>
          <a:xfrm>
            <a:off x="9646920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733788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77" name="Shape 75"/>
          <p:cNvSpPr/>
          <p:nvPr/>
        </p:nvSpPr>
        <p:spPr>
          <a:xfrm>
            <a:off x="9959645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046513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79" name="Shape 77"/>
          <p:cNvSpPr/>
          <p:nvPr/>
        </p:nvSpPr>
        <p:spPr>
          <a:xfrm>
            <a:off x="10272370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59238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10585094" y="2156612"/>
            <a:ext cx="330098" cy="19111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671962" y="2169643"/>
            <a:ext cx="156362" cy="13898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760" dirty="0"/>
          </a:p>
        </p:txBody>
      </p:sp>
      <p:sp>
        <p:nvSpPr>
          <p:cNvPr id="83" name="Shape 81"/>
          <p:cNvSpPr/>
          <p:nvPr/>
        </p:nvSpPr>
        <p:spPr>
          <a:xfrm>
            <a:off x="8092440" y="3536899"/>
            <a:ext cx="864108" cy="452628"/>
          </a:xfrm>
          <a:prstGeom prst="roundRect">
            <a:avLst/>
          </a:prstGeom>
          <a:solidFill>
            <a:srgbClr val="BEEAD0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33588" y="3586277"/>
            <a:ext cx="781812" cy="14813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糖果盒</a:t>
            </a:r>
            <a:endParaRPr lang="en-US" sz="675" dirty="0"/>
          </a:p>
        </p:txBody>
      </p:sp>
      <p:sp>
        <p:nvSpPr>
          <p:cNvPr id="85" name="Shape 83"/>
          <p:cNvSpPr/>
          <p:nvPr/>
        </p:nvSpPr>
        <p:spPr>
          <a:xfrm>
            <a:off x="8199425" y="3199486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21624" y="3199486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43823" y="3199486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99425" y="3434029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21624" y="3434029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643823" y="3434029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99425" y="3668573"/>
            <a:ext cx="160477" cy="16047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646920" y="3143707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959645" y="3143707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272370" y="3143707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585094" y="3143707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646920" y="3473806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59645" y="3473806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272370" y="3473806"/>
            <a:ext cx="225857" cy="225857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8EB"/>
          </a:solidFill>
          <a:ln w="12700">
            <a:solidFill>
              <a:srgbClr val="E3F8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EEAD0">
              <a:alpha val="75000"/>
            </a:srgbClr>
          </a:solidFill>
          <a:ln w="12700">
            <a:solidFill>
              <a:srgbClr val="BEEA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2 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1B8A5A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1B8A5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69164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25880" y="190195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2313432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331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229514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原有、再給、現在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" y="2715768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73405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269748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金錢增加了。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25880" y="3108960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1272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09067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＋ 10 ＝ 30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3232" y="402336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EA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325880" y="423367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25880" y="4645152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462686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原有、又放入、現在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5880" y="5047488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50657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50292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糖果數量增加了。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25880" y="5440680"/>
            <a:ext cx="1234440" cy="310896"/>
          </a:xfrm>
          <a:prstGeom prst="roundRect">
            <a:avLst/>
          </a:prstGeom>
          <a:solidFill>
            <a:srgbClr val="E3F8EB"/>
          </a:solidFill>
          <a:ln w="21590">
            <a:solidFill>
              <a:srgbClr val="1B8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54589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54223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＋ 7 ＝ 20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減法例題 1：拿走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籃子裏有 18 個蘋果，媽媽拿走了 6 個。籃子裏還剩多少個蘋果？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有一部分被拿走，數量減少。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－ 6 ＝ 12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1463040"/>
            <a:ext cx="1417320" cy="32004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1490472"/>
            <a:ext cx="1417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個蘋果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195498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9648" y="195498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029346" y="1937614"/>
            <a:ext cx="277978" cy="2606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359445" y="195498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72373" y="195498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342071" y="1937614"/>
            <a:ext cx="277978" cy="2606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672170" y="195498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85098" y="195498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654796" y="1937614"/>
            <a:ext cx="277978" cy="2606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984894" y="195498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7823" y="195498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967521" y="1937614"/>
            <a:ext cx="277978" cy="2606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297619" y="195498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0548" y="195498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280246" y="1937614"/>
            <a:ext cx="277978" cy="2606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610344" y="1954987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3272" y="1954987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592970" y="1937614"/>
            <a:ext cx="277978" cy="2606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8046720" y="228508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59648" y="228508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8359445" y="228508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72373" y="228508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8672170" y="228508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85098" y="228508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8984894" y="228508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97823" y="228508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9297619" y="228508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10548" y="228508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9610344" y="2285086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23272" y="2285086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8046720" y="2615184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59648" y="2615184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8359445" y="2615184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72373" y="2615184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8672170" y="2615184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85098" y="2615184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8984894" y="2615184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97823" y="2615184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9297619" y="2615184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10548" y="2615184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9610344" y="2615184"/>
            <a:ext cx="225857" cy="22585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23272" y="2615184"/>
            <a:ext cx="34747" cy="-69494"/>
          </a:xfrm>
          <a:prstGeom prst="line">
            <a:avLst/>
          </a:prstGeom>
          <a:noFill/>
          <a:ln w="15240">
            <a:solidFill>
              <a:srgbClr val="166534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9509760" y="2743200"/>
            <a:ext cx="1097280" cy="-50292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9921240" y="1947672"/>
            <a:ext cx="1051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拿走 6 個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減法學生練習 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學生任務：圈出重點字眼，先選運算，再說原因。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115568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88720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115568"/>
            <a:ext cx="1417320" cy="384048"/>
          </a:xfrm>
          <a:prstGeom prst="roundRect">
            <a:avLst/>
          </a:prstGeom>
          <a:solidFill>
            <a:srgbClr val="D97706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88720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182880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3852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盒子裏有 16 枝鉛筆，小華用了 5 枝。盒子裏還有多少枝鉛筆？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9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97180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406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38544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77456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8736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盤子裏有 14 塊餅乾，弟弟吃了 4 塊。盤子裏剩下多少塊餅乾？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96519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440680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38544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77456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1417320"/>
            <a:ext cx="3383280" cy="4526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1857146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5400000">
            <a:off x="8347558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88706" y="1857146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400000">
            <a:off x="8643823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4971" y="1857146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5400000">
            <a:off x="8940089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81237" y="1857146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5400000">
            <a:off x="9236354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77502" y="1857146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5400000">
            <a:off x="9532620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2169871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5400000">
            <a:off x="8347558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8706" y="2169871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5400000">
            <a:off x="8643823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684971" y="2169871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8940089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981237" y="2169871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5400000">
            <a:off x="9236354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77502" y="2169871"/>
            <a:ext cx="263347" cy="6583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5400000">
            <a:off x="9532620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46920" y="1857146"/>
            <a:ext cx="263347" cy="65837"/>
          </a:xfrm>
          <a:prstGeom prst="rect">
            <a:avLst/>
          </a:prstGeom>
          <a:solidFill>
            <a:srgbClr val="FBBF24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9902038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43186" y="1857146"/>
            <a:ext cx="263347" cy="65837"/>
          </a:xfrm>
          <a:prstGeom prst="rect">
            <a:avLst/>
          </a:prstGeom>
          <a:solidFill>
            <a:srgbClr val="FBBF24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5400000">
            <a:off x="10198303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39451" y="1857146"/>
            <a:ext cx="263347" cy="65837"/>
          </a:xfrm>
          <a:prstGeom prst="rect">
            <a:avLst/>
          </a:prstGeom>
          <a:solidFill>
            <a:srgbClr val="FBBF24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5400000">
            <a:off x="10494569" y="1844802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46920" y="2169871"/>
            <a:ext cx="263347" cy="65837"/>
          </a:xfrm>
          <a:prstGeom prst="rect">
            <a:avLst/>
          </a:prstGeom>
          <a:solidFill>
            <a:srgbClr val="FBBF24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400000">
            <a:off x="9902038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43186" y="2169871"/>
            <a:ext cx="263347" cy="65837"/>
          </a:xfrm>
          <a:prstGeom prst="rect">
            <a:avLst/>
          </a:prstGeom>
          <a:solidFill>
            <a:srgbClr val="FBBF24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5400000">
            <a:off x="10198303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39451" y="2169871"/>
            <a:ext cx="263347" cy="65837"/>
          </a:xfrm>
          <a:prstGeom prst="rect">
            <a:avLst/>
          </a:prstGeom>
          <a:solidFill>
            <a:srgbClr val="FBBF24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10494569" y="2157527"/>
            <a:ext cx="90526" cy="90526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92440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0047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40573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88706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46313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36838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84971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742578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33104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81237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038844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129370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277502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335110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425635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92440" y="3421685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50047" y="3487522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40573" y="3536899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88706" y="3421685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46313" y="3487522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36838" y="3536899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684971" y="3421685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742578" y="3487522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33104" y="3536899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81237" y="3421685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38844" y="3487522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129370" y="3536899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277502" y="3421685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335110" y="3487522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425635" y="3536899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46920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04527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795053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43186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000793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091318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239451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297058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387584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535717" y="3108960"/>
            <a:ext cx="246888" cy="2468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593324" y="3174797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683850" y="3224174"/>
            <a:ext cx="32918" cy="32918"/>
          </a:xfrm>
          <a:prstGeom prst="ellipse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1 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D97706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69164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25880" y="190195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231343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331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229514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用了、還有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" y="2715768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73405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269748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用去一部分，求剩下。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25880" y="310896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1272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09067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－ 5 ＝ 11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3232" y="402336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325880" y="423367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25880" y="464515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462686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吃了、剩下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5880" y="5047488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50657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50292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吃去一部分，求剩下。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25880" y="544068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54589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54223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－ 4 ＝ 10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減法例題 2：比較多少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哥哥有 24 張卡，妹妹有 16 張卡。哥哥比妹妹多多少張卡？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比妹妹多多少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比較兩個數量的差。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－ 16 ＝ 8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2514600"/>
            <a:ext cx="1143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哥哥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89720" y="2514600"/>
            <a:ext cx="224028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0" y="2560320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3227832"/>
            <a:ext cx="1143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妹妹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89720" y="3227832"/>
            <a:ext cx="1493520" cy="384048"/>
          </a:xfrm>
          <a:prstGeom prst="roundRect">
            <a:avLst/>
          </a:prstGeom>
          <a:solidFill>
            <a:srgbClr val="FCD99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74680" y="327355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683240" y="3044952"/>
            <a:ext cx="7467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820400" y="2825496"/>
            <a:ext cx="6583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6676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較多數量 － 較少數量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比較型減法練習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學生任務：圈出重點字眼，先選運算，再說原因。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115568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88720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115568"/>
            <a:ext cx="1417320" cy="384048"/>
          </a:xfrm>
          <a:prstGeom prst="roundRect">
            <a:avLst/>
          </a:prstGeom>
          <a:solidFill>
            <a:srgbClr val="D97706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88720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307592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182880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3852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甲班有 32 人，乙班有 28 人。甲班比乙班多多少人？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9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97180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406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38544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77456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8736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小欣有 25 粒糖，小美有 17 粒糖。小美比小欣少多少粒糖？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96519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440680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38544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77456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1417320"/>
            <a:ext cx="3383280" cy="4526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66506" y="178308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5358" y="191475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29854" y="178308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88706" y="191475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93201" y="178308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52053" y="191475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56548" y="178308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15400" y="191475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66506" y="212872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25358" y="226039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29854" y="212872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88706" y="226039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93201" y="212872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52053" y="226039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56548" y="212872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15400" y="226039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20986" y="178308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79838" y="191475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84334" y="178308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943186" y="191475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47681" y="178308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06533" y="191475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511028" y="1783080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69880" y="1914754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20986" y="212872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79838" y="226039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84334" y="212872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943186" y="226039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247681" y="2128723"/>
            <a:ext cx="148133" cy="148133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06533" y="2260397"/>
            <a:ext cx="230429" cy="230429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92440" y="3141878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88706" y="3141878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84971" y="3141878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81237" y="3141878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77502" y="3141878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92440" y="3454603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388706" y="3454603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84971" y="3454603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981237" y="3454603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77502" y="3454603"/>
            <a:ext cx="213970" cy="21397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46920" y="3141878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43186" y="3141878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239451" y="3141878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535717" y="3141878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46920" y="3454603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43186" y="3454603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39451" y="3454603"/>
            <a:ext cx="213970" cy="21397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比較型減法講解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D97706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69164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25880" y="190195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231343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331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229514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比……多多少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" y="2715768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73405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269748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比較兩班人數的差。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25880" y="310896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1272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09067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 － 28 ＝ 4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3232" y="402336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325880" y="423367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25880" y="464515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462686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比……少多少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5880" y="5047488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50657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50292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比較兩人糖果數量的差。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25880" y="544068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54589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54223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－ 17 ＝ 8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乘法例題 1：相同組數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每盒有 6 枝顏色筆，有 4 盒。一共有多少枝顏色筆？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4 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一共有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每盒數量相同，有 4 組。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× 4 ＝ 24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2236622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4726" y="2294230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盒1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8171536" y="187897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8394764" y="186817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30768" y="187897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8653996" y="186817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90000" y="187897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8913228" y="186817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1536" y="215261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8394764" y="214181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215261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8653996" y="214181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90000" y="215261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8913228" y="214181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4040" y="2236622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12046" y="2294230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盒2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9588856" y="187897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5400000">
            <a:off x="9812084" y="186817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48088" y="187897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5400000">
            <a:off x="10071316" y="186817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07320" y="187897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10330548" y="186817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88856" y="215261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5400000">
            <a:off x="9812084" y="214181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48088" y="215261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5400000">
            <a:off x="10071316" y="214181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07320" y="215261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5400000">
            <a:off x="10330548" y="214181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3882542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94726" y="3940150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盒3</a:t>
            </a:r>
            <a:endParaRPr lang="en-US" sz="788" dirty="0"/>
          </a:p>
        </p:txBody>
      </p:sp>
      <p:sp>
        <p:nvSpPr>
          <p:cNvPr id="56" name="Shape 54"/>
          <p:cNvSpPr/>
          <p:nvPr/>
        </p:nvSpPr>
        <p:spPr>
          <a:xfrm>
            <a:off x="8171536" y="352489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5400000">
            <a:off x="8394764" y="351409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30768" y="352489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400000">
            <a:off x="8653996" y="351409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90000" y="352489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5400000">
            <a:off x="8913228" y="351409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71536" y="379853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5400000">
            <a:off x="8394764" y="378773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30768" y="379853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8653996" y="378773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90000" y="379853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5400000">
            <a:off x="8913228" y="378773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64040" y="3882542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512046" y="3940150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盒4</a:t>
            </a:r>
            <a:endParaRPr lang="en-US" sz="788" dirty="0"/>
          </a:p>
        </p:txBody>
      </p:sp>
      <p:sp>
        <p:nvSpPr>
          <p:cNvPr id="70" name="Shape 68"/>
          <p:cNvSpPr/>
          <p:nvPr/>
        </p:nvSpPr>
        <p:spPr>
          <a:xfrm>
            <a:off x="9588856" y="352489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9812084" y="351409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48088" y="352489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5400000">
            <a:off x="10071316" y="351409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07320" y="3524898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5400000">
            <a:off x="10330548" y="3514096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88856" y="379853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9812084" y="378773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48088" y="379853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5400000">
            <a:off x="10071316" y="378773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07320" y="3798532"/>
            <a:ext cx="230429" cy="57607"/>
          </a:xfrm>
          <a:prstGeom prst="rect">
            <a:avLst/>
          </a:prstGeom>
          <a:solidFill>
            <a:srgbClr val="FACC1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5400000">
            <a:off x="10330548" y="3787731"/>
            <a:ext cx="79210" cy="79210"/>
          </a:xfrm>
          <a:prstGeom prst="triangle">
            <a:avLst/>
          </a:prstGeom>
          <a:solidFill>
            <a:srgbClr val="F59E0B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乘法學生練習 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學生任務：圈出重點字眼，先選運算，再說原因。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115568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88720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115568"/>
            <a:ext cx="1417320" cy="384048"/>
          </a:xfrm>
          <a:prstGeom prst="roundRect">
            <a:avLst/>
          </a:prstGeom>
          <a:solidFill>
            <a:srgbClr val="2563EB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88720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182880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3852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每袋有 5 個橙，有 6 袋。一共有多少個橙？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9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97180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406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38544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77456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8736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每張桌子坐 4 人，有 8 張桌子。一共可以坐多少人？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96519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440680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38544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77456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1417320"/>
            <a:ext cx="3383280" cy="4526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2211019"/>
            <a:ext cx="864108" cy="452628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3588" y="2260397"/>
            <a:ext cx="781812" cy="14813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袋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8199425" y="1873606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21624" y="1873606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43823" y="1873606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99425" y="2108149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21624" y="2108149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46920" y="2211019"/>
            <a:ext cx="864108" cy="452628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88068" y="2260397"/>
            <a:ext cx="781812" cy="14813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袋</a:t>
            </a:r>
            <a:endParaRPr lang="en-US" sz="675" dirty="0"/>
          </a:p>
        </p:txBody>
      </p:sp>
      <p:sp>
        <p:nvSpPr>
          <p:cNvPr id="56" name="Shape 54"/>
          <p:cNvSpPr/>
          <p:nvPr/>
        </p:nvSpPr>
        <p:spPr>
          <a:xfrm>
            <a:off x="9753905" y="1873606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76104" y="1873606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98303" y="1873606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53905" y="2108149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76104" y="2108149"/>
            <a:ext cx="160477" cy="160477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92440" y="3195828"/>
            <a:ext cx="399593" cy="104242"/>
          </a:xfrm>
          <a:prstGeom prst="rect">
            <a:avLst/>
          </a:prstGeom>
          <a:solidFill>
            <a:srgbClr val="A16207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53248" y="3300070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431225" y="3300070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405165" y="3195828"/>
            <a:ext cx="399593" cy="104242"/>
          </a:xfrm>
          <a:prstGeom prst="rect">
            <a:avLst/>
          </a:prstGeom>
          <a:solidFill>
            <a:srgbClr val="A16207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65972" y="3300070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8743950" y="3300070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092440" y="3525926"/>
            <a:ext cx="399593" cy="104242"/>
          </a:xfrm>
          <a:prstGeom prst="rect">
            <a:avLst/>
          </a:prstGeom>
          <a:solidFill>
            <a:srgbClr val="A16207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53248" y="3630168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8431225" y="3630168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8405165" y="3525926"/>
            <a:ext cx="399593" cy="104242"/>
          </a:xfrm>
          <a:prstGeom prst="rect">
            <a:avLst/>
          </a:prstGeom>
          <a:solidFill>
            <a:srgbClr val="A16207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65972" y="3630168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8743950" y="3630168"/>
            <a:ext cx="0" cy="191110"/>
          </a:xfrm>
          <a:prstGeom prst="line">
            <a:avLst/>
          </a:prstGeom>
          <a:noFill/>
          <a:ln w="19050">
            <a:solidFill>
              <a:srgbClr val="713F12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9720986" y="310896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79838" y="324063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84334" y="310896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943186" y="324063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47681" y="310896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06533" y="324063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1028" y="3108960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69880" y="3240634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20986" y="345460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679838" y="358627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984334" y="345460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43186" y="358627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47681" y="345460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06533" y="358627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511028" y="3454603"/>
            <a:ext cx="148133" cy="14813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469880" y="3586277"/>
            <a:ext cx="230429" cy="230429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乘法練習 1 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2563EB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69164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25880" y="190195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2313432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331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229514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每袋、有 6 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25880" y="2715768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73405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269748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每袋 5 個，有 6 組。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325880" y="310896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31272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09067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× 6 ＝ 30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3232" y="4023360"/>
            <a:ext cx="10332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325880" y="423367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25880" y="4645152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743200" y="4626864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每張、有 8 張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25880" y="5047488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50657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743200" y="50292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每張桌坐 4 人，有 8 組。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25880" y="544068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54589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54223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× 8 ＝ 32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乘法例題 2：排隊排列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操場上有 5 排學生，每排有 7 人。一共有多少人？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每排人數相同，有 5 組。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× 5 ＝ 35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6672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810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5388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6526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14105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75243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2822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3960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11539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72677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60256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21394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08972" y="1737360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70110" y="1861718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78440" y="1819656"/>
            <a:ext cx="640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排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16672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77810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5388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6526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14105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75243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2822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23960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11539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72677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60256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21394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8972" y="2313432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70110" y="2437790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78440" y="2395728"/>
            <a:ext cx="640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排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116672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77810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65388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26526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14105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75243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62822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23960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11539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72677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60256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321394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08972" y="2889504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70110" y="3013862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378440" y="2971800"/>
            <a:ext cx="640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排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116672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77810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65388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26526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14105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575243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62822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23960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11539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72677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60256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321394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8972" y="3465576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70110" y="3589934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78440" y="3547872"/>
            <a:ext cx="640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排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116672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77810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65388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326526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614105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75243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62822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23960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111539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072677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60256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321394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608972" y="4041648"/>
            <a:ext cx="139903" cy="139903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70110" y="4166006"/>
            <a:ext cx="217627" cy="217627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378440" y="4123944"/>
            <a:ext cx="640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排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排列型乘法練習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學生任務：圈出重點字眼，先選運算，再說原因。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115568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88720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115568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88720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115568"/>
            <a:ext cx="1417320" cy="384048"/>
          </a:xfrm>
          <a:prstGeom prst="roundRect">
            <a:avLst/>
          </a:prstGeom>
          <a:solidFill>
            <a:srgbClr val="2563EB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88720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307592"/>
            <a:ext cx="16459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115568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88720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182880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93852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禮堂裏有 6 排椅子，每排有 9 張。一共有多少張椅子？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49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97180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4406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38544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77456" y="276148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279349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3977640"/>
            <a:ext cx="6537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087368"/>
            <a:ext cx="62087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花圃有 4 行花，每行有 8 朵。一共有多少朵花？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749808" y="4965192"/>
            <a:ext cx="1508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圈重點字眼：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274320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440680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選運算：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38544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38544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77456" y="4910328"/>
            <a:ext cx="329184" cy="32918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4942332"/>
            <a:ext cx="329184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1417320"/>
            <a:ext cx="3383280" cy="4526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1855500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16580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8269468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8382122" y="1855500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06262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8559150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8671804" y="1855500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95944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8848832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8092440" y="2161276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6580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8269468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8382122" y="2161276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06262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8559150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8671804" y="2161276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95944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848832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092440" y="2467051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16580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269468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8382122" y="2467051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06262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8559150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8671804" y="2467051"/>
            <a:ext cx="209215" cy="144841"/>
          </a:xfrm>
          <a:prstGeom prst="rect">
            <a:avLst/>
          </a:prstGeom>
          <a:solidFill>
            <a:srgbClr val="94A3B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95944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8848832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9646920" y="1855500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71060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9823948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9936602" y="1855500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60742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10113630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10226284" y="1855500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250424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10403312" y="199229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9646920" y="2161276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71060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9823948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9936602" y="2161276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60742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10113630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10226284" y="2161276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250424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10403312" y="2298070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9646920" y="2467051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671060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9823948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9936602" y="2467051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960742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10113630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10226284" y="2467051"/>
            <a:ext cx="209215" cy="144841"/>
          </a:xfrm>
          <a:prstGeom prst="rect">
            <a:avLst/>
          </a:prstGeom>
          <a:solidFill>
            <a:srgbClr val="CBD5E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250424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10403312" y="2603845"/>
            <a:ext cx="0" cy="104607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8092440" y="3143707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53248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05368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8405165" y="3143707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465972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18093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8717890" y="3143707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697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830818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9030614" y="3143707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091422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43543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8092440" y="3473806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53248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205368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8405165" y="3473806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65972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518093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8717890" y="3473806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778697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30818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9030614" y="3473806"/>
            <a:ext cx="225857" cy="225857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091422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143543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9646920" y="3143707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707728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59848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9959645" y="3143707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020452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072573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10272370" y="3143707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333177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385298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10585094" y="3143707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645902" y="3091586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698023" y="3352190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9646920" y="3473806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707728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759848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9959645" y="3473806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20452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72573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10272370" y="3473806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333177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385298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10585094" y="3473806"/>
            <a:ext cx="225857" cy="22585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645902" y="3421685"/>
            <a:ext cx="104242" cy="10424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698023" y="3682289"/>
            <a:ext cx="0" cy="138989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149" name="Text 147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混合練習 1：先判斷，不要急着計算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學生任務：只選擇 ＋、－、×。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08760" y="1298448"/>
            <a:ext cx="70408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1408176"/>
            <a:ext cx="671169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小明有 12 粒糖，朋友再給他 6 粒。現在有多少粒糖？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15400" y="143560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147218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82328" y="143560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147218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49256" y="143560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9256" y="147218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508760" y="2807208"/>
            <a:ext cx="70408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73352" y="2916936"/>
            <a:ext cx="671169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每包有 6 塊餅乾，有 5 包。一共有多少塊餅乾？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15400" y="294436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98094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482328" y="294436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298094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49256" y="294436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9256" y="298094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508760" y="4315968"/>
            <a:ext cx="70408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73352" y="4425696"/>
            <a:ext cx="671169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書架上有 30 本書，借出了 12 本。還有多少本書？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5400" y="445312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448970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82328" y="445312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82328" y="448970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49256" y="445312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9256" y="448970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8680" y="5989320"/>
            <a:ext cx="332842" cy="332842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2368" y="6244895"/>
            <a:ext cx="166421" cy="166421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344168" y="607161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先圈字，再舉高手勢選運算。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混合練習 1 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7C3AED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572768"/>
            <a:ext cx="1033272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700784"/>
            <a:ext cx="314919" cy="3149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32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132" dirty="0"/>
          </a:p>
        </p:txBody>
      </p:sp>
      <p:sp>
        <p:nvSpPr>
          <p:cNvPr id="24" name="Text 22"/>
          <p:cNvSpPr/>
          <p:nvPr/>
        </p:nvSpPr>
        <p:spPr>
          <a:xfrm>
            <a:off x="1325880" y="1709928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25880" y="2020824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039112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002536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再給、現在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25880" y="2304288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3225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22860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數量增加，用加法。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325880" y="2578608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259689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256032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＋ 6 ＝ 18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13232" y="3108960"/>
            <a:ext cx="1033272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3236976"/>
            <a:ext cx="314919" cy="3149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32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132" dirty="0"/>
          </a:p>
        </p:txBody>
      </p:sp>
      <p:sp>
        <p:nvSpPr>
          <p:cNvPr id="36" name="Text 34"/>
          <p:cNvSpPr/>
          <p:nvPr/>
        </p:nvSpPr>
        <p:spPr>
          <a:xfrm>
            <a:off x="132588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25880" y="3557016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3575304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538728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每包、有 5 包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325880" y="3840480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38587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38221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相同組數，用乘法。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325880" y="4114800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413308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0" y="409651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× 5 ＝ 30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713232" y="4645152"/>
            <a:ext cx="1033272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4773168"/>
            <a:ext cx="314919" cy="3149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32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132" dirty="0"/>
          </a:p>
        </p:txBody>
      </p:sp>
      <p:sp>
        <p:nvSpPr>
          <p:cNvPr id="48" name="Text 46"/>
          <p:cNvSpPr/>
          <p:nvPr/>
        </p:nvSpPr>
        <p:spPr>
          <a:xfrm>
            <a:off x="1325880" y="478231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25880" y="5093208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511149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0" y="5074920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借出了、還有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325880" y="5376672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539496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0" y="5358384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數量減少，用減法。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1325880" y="5650992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53312" y="566928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743200" y="5632704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－ 12 ＝ 18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混合練習 2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學生任務：圈重點字，說出選運算的原因。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08760" y="1298448"/>
            <a:ext cx="70408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3352" y="1408176"/>
            <a:ext cx="671169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哥哥有 40 元，弟弟有 25 元。哥哥比弟弟多多少元？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15400" y="143560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147218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82328" y="143560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147218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49256" y="143560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9256" y="147218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508760" y="2807208"/>
            <a:ext cx="70408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73352" y="2916936"/>
            <a:ext cx="671169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每人有 3 本簿，全班有 20 人。一共有多少本簿？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15400" y="294436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98094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482328" y="294436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82328" y="298094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49256" y="294436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9256" y="298094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508760" y="4315968"/>
            <a:ext cx="70408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73352" y="4425696"/>
            <a:ext cx="6711696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花店有 18 朵紅花和 15 朵黃花。花店共有多少朵花？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15400" y="445312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448970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82328" y="445312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82328" y="448970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49256" y="445312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9256" y="448970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744200" y="1408176"/>
            <a:ext cx="277978" cy="160934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17352" y="1419149"/>
            <a:ext cx="131674" cy="1170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11007547" y="1408176"/>
            <a:ext cx="277978" cy="160934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80699" y="1419149"/>
            <a:ext cx="131674" cy="1170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640" dirty="0"/>
          </a:p>
        </p:txBody>
      </p:sp>
      <p:sp>
        <p:nvSpPr>
          <p:cNvPr id="39" name="Shape 37"/>
          <p:cNvSpPr/>
          <p:nvPr/>
        </p:nvSpPr>
        <p:spPr>
          <a:xfrm>
            <a:off x="10744200" y="1686154"/>
            <a:ext cx="277978" cy="160934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17352" y="1697126"/>
            <a:ext cx="131674" cy="1170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640" dirty="0"/>
          </a:p>
        </p:txBody>
      </p:sp>
      <p:sp>
        <p:nvSpPr>
          <p:cNvPr id="41" name="Shape 39"/>
          <p:cNvSpPr/>
          <p:nvPr/>
        </p:nvSpPr>
        <p:spPr>
          <a:xfrm>
            <a:off x="11007547" y="1686154"/>
            <a:ext cx="277978" cy="160934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80699" y="1697126"/>
            <a:ext cx="131674" cy="1170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10744200" y="1964131"/>
            <a:ext cx="277978" cy="160934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17352" y="1975104"/>
            <a:ext cx="131674" cy="11704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640" dirty="0"/>
          </a:p>
        </p:txBody>
      </p:sp>
      <p:sp>
        <p:nvSpPr>
          <p:cNvPr id="45" name="Shape 43"/>
          <p:cNvSpPr/>
          <p:nvPr/>
        </p:nvSpPr>
        <p:spPr>
          <a:xfrm>
            <a:off x="10716768" y="2880360"/>
            <a:ext cx="190195" cy="248717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53344" y="2916936"/>
            <a:ext cx="0" cy="175565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0980115" y="2880360"/>
            <a:ext cx="190195" cy="248717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16691" y="2916936"/>
            <a:ext cx="0" cy="175565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10716768" y="3158338"/>
            <a:ext cx="190195" cy="248717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53344" y="3194914"/>
            <a:ext cx="0" cy="175565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10980115" y="3158338"/>
            <a:ext cx="190195" cy="248717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16691" y="3194914"/>
            <a:ext cx="0" cy="175565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10716768" y="4418381"/>
            <a:ext cx="190195" cy="1901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67974" y="4374490"/>
            <a:ext cx="87782" cy="8778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11866" y="4593946"/>
            <a:ext cx="0" cy="117043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0980115" y="4418381"/>
            <a:ext cx="190195" cy="1901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31322" y="4374490"/>
            <a:ext cx="87782" cy="8778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75213" y="4593946"/>
            <a:ext cx="0" cy="117043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10716768" y="4696358"/>
            <a:ext cx="190195" cy="1901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67974" y="4652467"/>
            <a:ext cx="87782" cy="8778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811866" y="4871923"/>
            <a:ext cx="0" cy="117043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0980115" y="4696358"/>
            <a:ext cx="190195" cy="1901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31322" y="4652467"/>
            <a:ext cx="87782" cy="8778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75213" y="4871923"/>
            <a:ext cx="0" cy="117043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10716768" y="4974336"/>
            <a:ext cx="190195" cy="1901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767974" y="4930445"/>
            <a:ext cx="87782" cy="8778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811866" y="5149901"/>
            <a:ext cx="0" cy="117043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0980115" y="4974336"/>
            <a:ext cx="190195" cy="190195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031322" y="4930445"/>
            <a:ext cx="87782" cy="87782"/>
          </a:xfrm>
          <a:prstGeom prst="ellipse">
            <a:avLst/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75213" y="5149901"/>
            <a:ext cx="0" cy="117043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none"/>
          </a:ln>
        </p:spPr>
      </p:sp>
      <p:sp>
        <p:nvSpPr>
          <p:cNvPr id="71" name="Text 69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混合練習 2 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講解：每題都跟同一個流程分析。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94360" y="1078992"/>
            <a:ext cx="160020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52144"/>
            <a:ext cx="154533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圈重點字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9624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05656" y="1078992"/>
            <a:ext cx="1536192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152144"/>
            <a:ext cx="1481328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判斷意思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78424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34456" y="1078992"/>
            <a:ext cx="1417320" cy="384048"/>
          </a:xfrm>
          <a:prstGeom prst="roundRect">
            <a:avLst/>
          </a:prstGeom>
          <a:solidFill>
            <a:srgbClr val="7C3AED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52144"/>
            <a:ext cx="136245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選運算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88352" y="1271016"/>
            <a:ext cx="16459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44384" y="1078992"/>
            <a:ext cx="1325880" cy="384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152144"/>
            <a:ext cx="1271016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寫算式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" y="1572768"/>
            <a:ext cx="1033272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1700784"/>
            <a:ext cx="314919" cy="3149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32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132" dirty="0"/>
          </a:p>
        </p:txBody>
      </p:sp>
      <p:sp>
        <p:nvSpPr>
          <p:cNvPr id="24" name="Text 22"/>
          <p:cNvSpPr/>
          <p:nvPr/>
        </p:nvSpPr>
        <p:spPr>
          <a:xfrm>
            <a:off x="1325880" y="1709928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25880" y="2020824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3312" y="2039112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002536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比……多多少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25880" y="2304288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232257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228600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比較差距，用減法。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325880" y="2578608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3312" y="259689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2560320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 － 25 ＝ 15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13232" y="3108960"/>
            <a:ext cx="1033272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3236976"/>
            <a:ext cx="314919" cy="3149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32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132" dirty="0"/>
          </a:p>
        </p:txBody>
      </p:sp>
      <p:sp>
        <p:nvSpPr>
          <p:cNvPr id="36" name="Text 34"/>
          <p:cNvSpPr/>
          <p:nvPr/>
        </p:nvSpPr>
        <p:spPr>
          <a:xfrm>
            <a:off x="132588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B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25880" y="3557016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53312" y="3575304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3538728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每人、有 20 人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325880" y="3840480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53312" y="38587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382219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每人一樣多，用乘法。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325880" y="4114800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3312" y="413308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0" y="4096512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× 20 ＝ 60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713232" y="4645152"/>
            <a:ext cx="10332720" cy="12618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4773168"/>
            <a:ext cx="314919" cy="3149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32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132" dirty="0"/>
          </a:p>
        </p:txBody>
      </p:sp>
      <p:sp>
        <p:nvSpPr>
          <p:cNvPr id="48" name="Text 46"/>
          <p:cNvSpPr/>
          <p:nvPr/>
        </p:nvSpPr>
        <p:spPr>
          <a:xfrm>
            <a:off x="1325880" y="4782312"/>
            <a:ext cx="1005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 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25880" y="5093208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3312" y="511149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0" y="5074920"/>
            <a:ext cx="74523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紅花和黃花合起來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325880" y="5376672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53312" y="539496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0" y="5358384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兩種花合共，用加法。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1325880" y="5650992"/>
            <a:ext cx="1234440" cy="310896"/>
          </a:xfrm>
          <a:prstGeom prst="roundRect">
            <a:avLst/>
          </a:prstGeom>
          <a:solidFill>
            <a:srgbClr val="F3E8FF"/>
          </a:solidFill>
          <a:ln w="2159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53312" y="566928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743200" y="5632704"/>
            <a:ext cx="7452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＋ 15 ＝ 33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容易混淆題 1：看到「一共」不一定是加法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每盒有 8 粒朱古力，有 3 盒。一共有多少粒朱古力？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3 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一共有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「每盒」表示每組數量相同。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× 3 ＝ 24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錯誤想法：看到「一共」就用加法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83880" y="2721254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1886" y="2778862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盒1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8308696" y="232760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67928" y="232760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7160" y="232760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8696" y="260123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67928" y="260123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7160" y="260123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08696" y="2874874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67928" y="2874874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0" y="2721254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9206" y="2778862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盒2</a:t>
            </a:r>
            <a:endParaRPr lang="en-US" sz="788" dirty="0"/>
          </a:p>
        </p:txBody>
      </p:sp>
      <p:sp>
        <p:nvSpPr>
          <p:cNvPr id="39" name="Shape 37"/>
          <p:cNvSpPr/>
          <p:nvPr/>
        </p:nvSpPr>
        <p:spPr>
          <a:xfrm>
            <a:off x="9726016" y="232760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85248" y="232760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44480" y="232760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26016" y="260123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85248" y="260123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44480" y="260123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6016" y="2874874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85248" y="2874874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83880" y="4367174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31886" y="4424782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盒3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8308696" y="397352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67928" y="397352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27160" y="3973525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08696" y="424715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67928" y="424715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27160" y="4247159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08696" y="4520794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67928" y="4520794"/>
            <a:ext cx="187223" cy="187223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0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FCD99B">
              <a:alpha val="75000"/>
            </a:srgbClr>
          </a:solidFill>
          <a:ln w="12700">
            <a:solidFill>
              <a:srgbClr val="FCD99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容易混淆題 2：看到「多」不一定是加法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例題：跟着流程，一步一步判斷。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69037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52728"/>
            <a:ext cx="6574536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小華有 22 張貼紙，小美有 15 張貼紙。小華比小美多多少張？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圈出重點字眼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176272"/>
            <a:ext cx="1005840" cy="310896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2194560"/>
            <a:ext cx="950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比小美多多少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2880360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986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30552" y="2862072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「比……多多少」是在比較差距。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" y="3456432"/>
            <a:ext cx="1234440" cy="310896"/>
          </a:xfrm>
          <a:prstGeom prst="roundRect">
            <a:avLst/>
          </a:prstGeom>
          <a:solidFill>
            <a:srgbClr val="FFF0D8"/>
          </a:solidFill>
          <a:ln w="2159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47472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30552" y="3438144"/>
            <a:ext cx="48006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13232" y="4224528"/>
            <a:ext cx="594360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16552"/>
            <a:ext cx="5532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 － 15 ＝ 7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7818120" y="1170432"/>
            <a:ext cx="3383280" cy="4663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25400">
            <a:solidFill>
              <a:srgbClr val="FCD9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508760"/>
            <a:ext cx="3017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錯誤想法：看到「多」就用加法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2532888"/>
            <a:ext cx="1143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小華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89720" y="2532888"/>
            <a:ext cx="2240280" cy="38404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0" y="2578608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3246120"/>
            <a:ext cx="1143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小美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89720" y="3246120"/>
            <a:ext cx="1527464" cy="384048"/>
          </a:xfrm>
          <a:prstGeom prst="roundRect">
            <a:avLst/>
          </a:prstGeom>
          <a:solidFill>
            <a:srgbClr val="FCD99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08624" y="3291840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717184" y="3063240"/>
            <a:ext cx="71281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854344" y="2843784"/>
            <a:ext cx="6583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全班即時挑戰：只判斷運算，不用計算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每題旁邊選 ＋、－、×。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13232" y="1143000"/>
            <a:ext cx="320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0704" y="1051560"/>
            <a:ext cx="6949440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1161288"/>
            <a:ext cx="6620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每袋有 9 個波，有 4 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0" y="1124712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161288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79408" y="1124712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1161288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546336" y="1124712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46336" y="1161288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1929384"/>
            <a:ext cx="320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0704" y="1837944"/>
            <a:ext cx="6949440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1947672"/>
            <a:ext cx="6620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小明有 18 元，買文具用了 6 元。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12480" y="1911096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947672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79408" y="1911096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79408" y="1947672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46336" y="1911096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6336" y="1947672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2715768"/>
            <a:ext cx="320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60704" y="2624328"/>
            <a:ext cx="6949440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2734056"/>
            <a:ext cx="6620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甲組有 11 人，乙組有 13 人。兩組共有多少人？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12480" y="2697480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734056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79408" y="2697480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9408" y="2734056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46336" y="2697480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46336" y="2734056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" y="3502152"/>
            <a:ext cx="320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60704" y="3410712"/>
            <a:ext cx="6949440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25296" y="3520440"/>
            <a:ext cx="6620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媽媽有 30 個口罩，用去了 12 個。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12480" y="3483864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520440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979408" y="3483864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79408" y="3520440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546336" y="3483864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6336" y="3520440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3232" y="4288536"/>
            <a:ext cx="320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60704" y="4197096"/>
            <a:ext cx="6949440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25296" y="4306824"/>
            <a:ext cx="6620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每張桌子放 4 本書，有 6 張桌子。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12480" y="427024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430682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979408" y="427024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79408" y="430682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546336" y="4270248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46336" y="4306824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3232" y="5074920"/>
            <a:ext cx="320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60704" y="4983480"/>
            <a:ext cx="6949440" cy="47548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DD6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25296" y="5093208"/>
            <a:ext cx="6620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哥哥有 28 粒糖，妹妹有 19 粒糖。哥哥比妹妹多多少粒？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12480" y="5056632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5093208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979408" y="5056632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79408" y="5093208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546336" y="5056632"/>
            <a:ext cx="438912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46336" y="5093208"/>
            <a:ext cx="438912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即時挑戰答案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說出原因，比只說答案更重要。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4572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18488"/>
            <a:ext cx="364846" cy="3648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70" dirty="0"/>
          </a:p>
        </p:txBody>
      </p:sp>
      <p:sp>
        <p:nvSpPr>
          <p:cNvPr id="10" name="Text 8"/>
          <p:cNvSpPr/>
          <p:nvPr/>
        </p:nvSpPr>
        <p:spPr>
          <a:xfrm>
            <a:off x="1389888" y="1581912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乘法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88920" y="1627632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每袋、有 4 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4572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618488"/>
            <a:ext cx="364846" cy="3648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70" dirty="0"/>
          </a:p>
        </p:txBody>
      </p:sp>
      <p:sp>
        <p:nvSpPr>
          <p:cNvPr id="14" name="Text 12"/>
          <p:cNvSpPr/>
          <p:nvPr/>
        </p:nvSpPr>
        <p:spPr>
          <a:xfrm>
            <a:off x="6739128" y="1581912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減法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38160" y="1627632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834640"/>
            <a:ext cx="4572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35808"/>
            <a:ext cx="364846" cy="3648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70" dirty="0"/>
          </a:p>
        </p:txBody>
      </p:sp>
      <p:sp>
        <p:nvSpPr>
          <p:cNvPr id="18" name="Text 16"/>
          <p:cNvSpPr/>
          <p:nvPr/>
        </p:nvSpPr>
        <p:spPr>
          <a:xfrm>
            <a:off x="1389888" y="2999232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加法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788920" y="3044952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2834640"/>
            <a:ext cx="4572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035808"/>
            <a:ext cx="364846" cy="3648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70" dirty="0"/>
          </a:p>
        </p:txBody>
      </p:sp>
      <p:sp>
        <p:nvSpPr>
          <p:cNvPr id="22" name="Text 20"/>
          <p:cNvSpPr/>
          <p:nvPr/>
        </p:nvSpPr>
        <p:spPr>
          <a:xfrm>
            <a:off x="6739128" y="2999232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減法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38160" y="3044952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用去了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251960"/>
            <a:ext cx="4572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453128"/>
            <a:ext cx="364846" cy="3648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70" dirty="0"/>
          </a:p>
        </p:txBody>
      </p:sp>
      <p:sp>
        <p:nvSpPr>
          <p:cNvPr id="26" name="Text 24"/>
          <p:cNvSpPr/>
          <p:nvPr/>
        </p:nvSpPr>
        <p:spPr>
          <a:xfrm>
            <a:off x="1389888" y="4416552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乘法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78892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每張、有 6 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200" y="4251960"/>
            <a:ext cx="4572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453128"/>
            <a:ext cx="364846" cy="3648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1665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470" dirty="0"/>
          </a:p>
        </p:txBody>
      </p:sp>
      <p:sp>
        <p:nvSpPr>
          <p:cNvPr id="30" name="Text 28"/>
          <p:cNvSpPr/>
          <p:nvPr/>
        </p:nvSpPr>
        <p:spPr>
          <a:xfrm>
            <a:off x="6739128" y="4416552"/>
            <a:ext cx="1234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減法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138160" y="4462272"/>
            <a:ext cx="2331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比……多多少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完整解題練習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學生填寫完整分析流程。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04241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52728"/>
            <a:ext cx="10094976" cy="6492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每位學生有 4 張工作紙，班中有 23 位學生。老師一共要準備多少張工作紙？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35000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514600"/>
            <a:ext cx="80924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22960" y="292608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9443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題目資料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40280" y="3108960"/>
            <a:ext cx="80924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22960" y="352044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53872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判斷原因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40280" y="3703320"/>
            <a:ext cx="80924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22960" y="411480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13308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運算方法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40280" y="4297680"/>
            <a:ext cx="80924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22960" y="470916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72744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40280" y="4892040"/>
            <a:ext cx="80924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22960" y="530352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32180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40280" y="5486400"/>
            <a:ext cx="809244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012680" y="5257800"/>
            <a:ext cx="510235" cy="641909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94976" y="5405933"/>
            <a:ext cx="345643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0094976" y="5537606"/>
            <a:ext cx="345643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094976" y="5669280"/>
            <a:ext cx="263347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5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EFFF"/>
          </a:solidFill>
          <a:ln w="12700">
            <a:solidFill>
              <a:srgbClr val="E5E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BFD6FF">
              <a:alpha val="75000"/>
            </a:srgbClr>
          </a:solidFill>
          <a:ln w="12700">
            <a:solidFill>
              <a:srgbClr val="BFD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完整解題講解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完整答案示範。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5272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重點字眼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12848" y="1225296"/>
            <a:ext cx="8046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每位、有 23 位、一共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1892808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11096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題目資料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12848" y="1883664"/>
            <a:ext cx="8046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每位學生 4 張工作紙，共有 23 位學生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2551176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569464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判斷原因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12848" y="2542032"/>
            <a:ext cx="8046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每位學生的工作紙數量相同，有 23 組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227832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運算方法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12848" y="3200400"/>
            <a:ext cx="8046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3867912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86200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12848" y="3858768"/>
            <a:ext cx="8046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× 23 ＝ 92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77240" y="4526280"/>
            <a:ext cx="1234440" cy="310896"/>
          </a:xfrm>
          <a:prstGeom prst="roundRect">
            <a:avLst/>
          </a:prstGeom>
          <a:solidFill>
            <a:srgbClr val="E5EFFF"/>
          </a:solidFill>
          <a:ln w="2159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544568"/>
            <a:ext cx="11795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12848" y="4517136"/>
            <a:ext cx="8046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老師一共要準備 92 張工作紙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869680" y="4870094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7686" y="4927702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學生1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8994496" y="4447642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0500" y="4483646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253728" y="4447642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9732" y="4483646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512960" y="4447642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48965" y="4483646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994496" y="4721276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30500" y="4757280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0287000" y="4870094"/>
            <a:ext cx="1008126" cy="528066"/>
          </a:xfrm>
          <a:prstGeom prst="roundRect">
            <a:avLst/>
          </a:prstGeom>
          <a:solidFill>
            <a:srgbClr val="BFD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5006" y="4927702"/>
            <a:ext cx="912114" cy="17282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學生2</a:t>
            </a:r>
            <a:endParaRPr lang="en-US" sz="788" dirty="0"/>
          </a:p>
        </p:txBody>
      </p:sp>
      <p:sp>
        <p:nvSpPr>
          <p:cNvPr id="38" name="Shape 36"/>
          <p:cNvSpPr/>
          <p:nvPr/>
        </p:nvSpPr>
        <p:spPr>
          <a:xfrm>
            <a:off x="10411816" y="4447642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47820" y="4483646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671048" y="4447642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07053" y="4483646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930280" y="4447642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66285" y="4483646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0411816" y="4721276"/>
            <a:ext cx="187223" cy="244831"/>
          </a:xfrm>
          <a:prstGeom prst="rect">
            <a:avLst/>
          </a:prstGeom>
          <a:solidFill>
            <a:srgbClr val="60A5F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47820" y="4757280"/>
            <a:ext cx="0" cy="17282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86032" y="0"/>
            <a:ext cx="502920" cy="6858000"/>
          </a:xfrm>
          <a:prstGeom prst="rect">
            <a:avLst/>
          </a:prstGeom>
          <a:solidFill>
            <a:srgbClr val="DDD6FE">
              <a:alpha val="75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做文字題的重點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786384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先理解，再計算。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52760" y="192024"/>
            <a:ext cx="6858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7310" y="1908810"/>
            <a:ext cx="320040" cy="320040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874520" y="1572768"/>
            <a:ext cx="78638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不要一看到數字就計算。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874520" y="2148840"/>
            <a:ext cx="78638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先圈重點字眼，再判斷題目意思。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2971800" cy="1508760"/>
          </a:xfrm>
          <a:prstGeom prst="roundRect">
            <a:avLst/>
          </a:prstGeom>
          <a:solidFill>
            <a:srgbClr val="E3F8EB"/>
          </a:solidFill>
          <a:ln w="25400">
            <a:solidFill>
              <a:srgbClr val="1B8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22192"/>
            <a:ext cx="594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737360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462272"/>
            <a:ext cx="2240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合起來、增加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2971800" cy="1508760"/>
          </a:xfrm>
          <a:prstGeom prst="roundRect">
            <a:avLst/>
          </a:prstGeom>
          <a:solidFill>
            <a:srgbClr val="FFF0D8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822192"/>
            <a:ext cx="594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－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440680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4462272"/>
            <a:ext cx="2240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拿走、剩下、比較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75320" y="3657600"/>
            <a:ext cx="2971800" cy="1508760"/>
          </a:xfrm>
          <a:prstGeom prst="roundRect">
            <a:avLst/>
          </a:prstGeom>
          <a:solidFill>
            <a:srgbClr val="E5E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822192"/>
            <a:ext cx="594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144000" y="3822192"/>
            <a:ext cx="1508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0" y="4462272"/>
            <a:ext cx="2240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0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每組一樣多，有很多組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0" y="6428232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文字題實戰：判斷加法、減法、乘法</dc:title>
  <dc:subject>文字題實戰：判斷加法、減法、乘法</dc:subject>
  <dc:creator>Codex</dc:creator>
  <cp:lastModifiedBy>Codex</cp:lastModifiedBy>
  <cp:revision>1</cp:revision>
  <dcterms:created xsi:type="dcterms:W3CDTF">2026-04-28T09:31:04Z</dcterms:created>
  <dcterms:modified xsi:type="dcterms:W3CDTF">2026-04-28T09:31:04Z</dcterms:modified>
</cp:coreProperties>
</file>
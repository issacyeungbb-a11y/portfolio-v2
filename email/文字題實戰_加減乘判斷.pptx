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3044"/>
          </a:solidFill>
          <a:ln w="12700">
            <a:solidFill>
              <a:srgbClr val="1630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E2E8F0">
              <a:alpha val="75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051560"/>
            <a:ext cx="1190549" cy="1497787"/>
          </a:xfrm>
          <a:prstGeom prst="rect">
            <a:avLst/>
          </a:prstGeom>
          <a:solidFill>
            <a:srgbClr val="FFFFFF"/>
          </a:solidFill>
          <a:ln w="25400">
            <a:solidFill>
              <a:srgbClr val="1630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6424" y="1397203"/>
            <a:ext cx="806501" cy="0"/>
          </a:xfrm>
          <a:prstGeom prst="line">
            <a:avLst/>
          </a:prstGeom>
          <a:noFill/>
          <a:ln w="15240">
            <a:solidFill>
              <a:srgbClr val="163044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06424" y="1704442"/>
            <a:ext cx="806501" cy="0"/>
          </a:xfrm>
          <a:prstGeom prst="line">
            <a:avLst/>
          </a:prstGeom>
          <a:noFill/>
          <a:ln w="15240">
            <a:solidFill>
              <a:srgbClr val="163044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06424" y="2011680"/>
            <a:ext cx="614477" cy="0"/>
          </a:xfrm>
          <a:prstGeom prst="line">
            <a:avLst/>
          </a:prstGeom>
          <a:noFill/>
          <a:ln w="15240">
            <a:solidFill>
              <a:srgbClr val="16304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920240" y="1691640"/>
            <a:ext cx="1126541" cy="1126541"/>
          </a:xfrm>
          <a:prstGeom prst="ellipse">
            <a:avLst/>
          </a:prstGeom>
          <a:solidFill>
            <a:srgbClr val="FFFFFF">
              <a:alpha val="0"/>
            </a:srgbClr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5029" y="2556662"/>
            <a:ext cx="563270" cy="563270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452360" y="1143000"/>
            <a:ext cx="868680" cy="868680"/>
          </a:xfrm>
          <a:prstGeom prst="ellipse">
            <a:avLst/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1261872"/>
            <a:ext cx="8686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8595360" y="1325880"/>
            <a:ext cx="868680" cy="8686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0" y="1444752"/>
            <a:ext cx="8686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3400" dirty="0"/>
          </a:p>
        </p:txBody>
      </p:sp>
      <p:sp>
        <p:nvSpPr>
          <p:cNvPr id="17" name="Shape 15"/>
          <p:cNvSpPr/>
          <p:nvPr/>
        </p:nvSpPr>
        <p:spPr>
          <a:xfrm>
            <a:off x="9738360" y="1508760"/>
            <a:ext cx="868680" cy="8686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38360" y="1627632"/>
            <a:ext cx="8686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914400" y="3383280"/>
            <a:ext cx="978408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文字題實戰：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判斷加法、減法、乘法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60120" y="4791456"/>
            <a:ext cx="8686800" cy="4389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圈出重點字眼，找出正確運算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87552" y="5486400"/>
            <a:ext cx="694944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教師帶做版｜少講理論，多做題目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DDD6FE">
              <a:alpha val="75000"/>
            </a:srgbClr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做題四步法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每一題都先看意思，再決定運算。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731520" y="1874520"/>
            <a:ext cx="2057400" cy="21488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7C3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89888" y="1572768"/>
            <a:ext cx="731520" cy="7315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89888" y="1673352"/>
            <a:ext cx="73152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868680" y="2176272"/>
            <a:ext cx="17830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圈出重點字眼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41832" y="2907792"/>
            <a:ext cx="1627632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找「一共、剩下、每盒」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2907792" y="2907792"/>
            <a:ext cx="475488" cy="0"/>
          </a:xfrm>
          <a:prstGeom prst="line">
            <a:avLst/>
          </a:prstGeom>
          <a:noFill/>
          <a:ln w="31750">
            <a:solidFill>
              <a:srgbClr val="163044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520440" y="1874520"/>
            <a:ext cx="2057400" cy="21488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B8A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78808" y="1572768"/>
            <a:ext cx="731520" cy="731520"/>
          </a:xfrm>
          <a:prstGeom prst="ellipse">
            <a:avLst/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78808" y="1673352"/>
            <a:ext cx="73152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3657600" y="2176272"/>
            <a:ext cx="17830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找出題目資料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730752" y="2907792"/>
            <a:ext cx="1627632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有哪些數字？代表甚麼？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696712" y="2907792"/>
            <a:ext cx="475488" cy="0"/>
          </a:xfrm>
          <a:prstGeom prst="line">
            <a:avLst/>
          </a:prstGeom>
          <a:noFill/>
          <a:ln w="31750">
            <a:solidFill>
              <a:srgbClr val="163044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309360" y="1874520"/>
            <a:ext cx="2057400" cy="21488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D9770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67728" y="1572768"/>
            <a:ext cx="731520" cy="7315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67728" y="1673352"/>
            <a:ext cx="73152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446520" y="2176272"/>
            <a:ext cx="17830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判斷數量變化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519672" y="2907792"/>
            <a:ext cx="1627632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合起來、減少、比較、相同組數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485632" y="2907792"/>
            <a:ext cx="475488" cy="0"/>
          </a:xfrm>
          <a:prstGeom prst="line">
            <a:avLst/>
          </a:prstGeom>
          <a:noFill/>
          <a:ln w="31750">
            <a:solidFill>
              <a:srgbClr val="163044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098280" y="1874520"/>
            <a:ext cx="2057400" cy="21488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2563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756648" y="1572768"/>
            <a:ext cx="731520" cy="7315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1673352"/>
            <a:ext cx="73152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9235440" y="2176272"/>
            <a:ext cx="17830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選擇運算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9308592" y="2907792"/>
            <a:ext cx="1627632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＋、－ 或 ×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713232" y="5074920"/>
            <a:ext cx="409651" cy="409651"/>
          </a:xfrm>
          <a:prstGeom prst="ellipse">
            <a:avLst/>
          </a:prstGeom>
          <a:solidFill>
            <a:srgbClr val="FFFFFF">
              <a:alpha val="0"/>
            </a:srgbClr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3155" y="5389474"/>
            <a:ext cx="204826" cy="204826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  <a:headEnd type="none"/>
            <a:tailEnd type="none"/>
          </a:ln>
        </p:spPr>
      </p:sp>
      <p:sp>
        <p:nvSpPr>
          <p:cNvPr id="33" name="Text 31"/>
          <p:cNvSpPr/>
          <p:nvPr/>
        </p:nvSpPr>
        <p:spPr>
          <a:xfrm>
            <a:off x="1325880" y="5166360"/>
            <a:ext cx="960120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提示：不是看到某個字就立即計算，要把整句題目讀完整。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DDD6FE">
              <a:alpha val="75000"/>
            </a:srgbClr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重點字眼總表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用顏色幫助分類，但最後仍要看題目意思。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731520" y="1508760"/>
            <a:ext cx="3246120" cy="4251960"/>
          </a:xfrm>
          <a:prstGeom prst="roundRect">
            <a:avLst/>
          </a:prstGeom>
          <a:solidFill>
            <a:srgbClr val="E3F8EB"/>
          </a:solidFill>
          <a:ln w="29210">
            <a:solidFill>
              <a:srgbClr val="1B8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783080"/>
            <a:ext cx="2880360" cy="4389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加法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033272" y="2587752"/>
            <a:ext cx="2651760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一共、共有、合共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再、又、增加、多了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901952" y="4828032"/>
            <a:ext cx="9144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4300" dirty="0"/>
          </a:p>
        </p:txBody>
      </p:sp>
      <p:sp>
        <p:nvSpPr>
          <p:cNvPr id="12" name="Shape 10"/>
          <p:cNvSpPr/>
          <p:nvPr/>
        </p:nvSpPr>
        <p:spPr>
          <a:xfrm>
            <a:off x="4434840" y="1508760"/>
            <a:ext cx="3246120" cy="4251960"/>
          </a:xfrm>
          <a:prstGeom prst="roundRect">
            <a:avLst/>
          </a:prstGeom>
          <a:solidFill>
            <a:srgbClr val="FFF0D8"/>
          </a:solidFill>
          <a:ln w="2921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783080"/>
            <a:ext cx="2880360" cy="4389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減法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36592" y="2587752"/>
            <a:ext cx="2651760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剩下、還有、用去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吃了、拿走、賣出、借出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相差、比……多、比……少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605272" y="4828032"/>
            <a:ext cx="9144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4300" dirty="0"/>
          </a:p>
        </p:txBody>
      </p:sp>
      <p:sp>
        <p:nvSpPr>
          <p:cNvPr id="16" name="Shape 14"/>
          <p:cNvSpPr/>
          <p:nvPr/>
        </p:nvSpPr>
        <p:spPr>
          <a:xfrm>
            <a:off x="8138160" y="1508760"/>
            <a:ext cx="3246120" cy="4251960"/>
          </a:xfrm>
          <a:prstGeom prst="roundRect">
            <a:avLst/>
          </a:prstGeom>
          <a:solidFill>
            <a:srgbClr val="E5EFFF"/>
          </a:solidFill>
          <a:ln w="2921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1783080"/>
            <a:ext cx="2880360" cy="4389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乘法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439912" y="2587752"/>
            <a:ext cx="2651760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每人、每盒、每袋、每排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每組、每個、一樣多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同樣數量、幾倍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308592" y="4828032"/>
            <a:ext cx="9144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4300" dirty="0"/>
          </a:p>
        </p:txBody>
      </p:sp>
      <p:sp>
        <p:nvSpPr>
          <p:cNvPr id="20" name="Text 18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F8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8EB"/>
          </a:solidFill>
          <a:ln w="12700">
            <a:solidFill>
              <a:srgbClr val="E3F8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BEEAD0">
              <a:alpha val="75000"/>
            </a:srgbClr>
          </a:solidFill>
          <a:ln w="12700">
            <a:solidFill>
              <a:srgbClr val="BEEAD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加法例題 1：合起來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例題：跟着流程，一步一步判斷。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58368" y="1143000"/>
            <a:ext cx="69037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EEA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252728"/>
            <a:ext cx="6574536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課室裏有 12 位男生和 10 位女生。課室裏共有多少位學生？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圈出重點字眼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24028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6771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男生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42900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5643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女生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1772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4515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3232" y="2880360"/>
            <a:ext cx="1234440" cy="310896"/>
          </a:xfrm>
          <a:prstGeom prst="roundRect">
            <a:avLst/>
          </a:prstGeom>
          <a:solidFill>
            <a:srgbClr val="E3F8EB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" y="289864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30552" y="2862072"/>
            <a:ext cx="480060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男生和女生合起來。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13232" y="3456432"/>
            <a:ext cx="1234440" cy="310896"/>
          </a:xfrm>
          <a:prstGeom prst="roundRect">
            <a:avLst/>
          </a:prstGeom>
          <a:solidFill>
            <a:srgbClr val="E3F8EB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" y="347472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運算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30552" y="3438144"/>
            <a:ext cx="480060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加法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713232" y="4224528"/>
            <a:ext cx="5943600" cy="10515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B8A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416552"/>
            <a:ext cx="55321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＋ 10 ＝ 22</a:t>
            </a:r>
            <a:endParaRPr lang="en-US" sz="3400" dirty="0"/>
          </a:p>
        </p:txBody>
      </p:sp>
      <p:sp>
        <p:nvSpPr>
          <p:cNvPr id="25" name="Shape 23"/>
          <p:cNvSpPr/>
          <p:nvPr/>
        </p:nvSpPr>
        <p:spPr>
          <a:xfrm>
            <a:off x="7818120" y="1170432"/>
            <a:ext cx="3383280" cy="4663440"/>
          </a:xfrm>
          <a:prstGeom prst="roundRect">
            <a:avLst/>
          </a:prstGeom>
          <a:solidFill>
            <a:srgbClr val="FFFFFF">
              <a:alpha val="96000"/>
            </a:srgbClr>
          </a:solidFill>
          <a:ln w="25400">
            <a:solidFill>
              <a:srgbClr val="BEEA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0" y="1417320"/>
            <a:ext cx="1417320" cy="320040"/>
          </a:xfrm>
          <a:prstGeom prst="roundRect">
            <a:avLst/>
          </a:prstGeom>
          <a:solidFill>
            <a:srgbClr val="1B8A5A"/>
          </a:solidFill>
          <a:ln w="12700">
            <a:solidFill>
              <a:srgbClr val="1B8A5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0" y="1444752"/>
            <a:ext cx="141732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男生 12 位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120786" y="1828800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79638" y="1960474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84134" y="1828800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42986" y="1960474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7481" y="1828800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06333" y="1960474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10828" y="1828800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69680" y="1960474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74175" y="1828800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133027" y="1960474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37522" y="1828800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396374" y="1960474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20786" y="2174443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79638" y="2306117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384134" y="2174443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42986" y="2306117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647481" y="2174443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606333" y="2306117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910828" y="2174443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869680" y="2306117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174175" y="2174443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133027" y="2306117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437522" y="2174443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396374" y="2306117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046720" y="3520440"/>
            <a:ext cx="1417320" cy="320040"/>
          </a:xfrm>
          <a:prstGeom prst="roundRect">
            <a:avLst/>
          </a:prstGeom>
          <a:solidFill>
            <a:srgbClr val="EC4899"/>
          </a:solidFill>
          <a:ln w="12700">
            <a:solidFill>
              <a:srgbClr val="EC4899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046720" y="3547872"/>
            <a:ext cx="141732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女生 10 位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8120786" y="3931920"/>
            <a:ext cx="148133" cy="148133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079638" y="4063594"/>
            <a:ext cx="230429" cy="230429"/>
          </a:xfrm>
          <a:prstGeom prst="round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84134" y="3931920"/>
            <a:ext cx="148133" cy="148133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42986" y="4063594"/>
            <a:ext cx="230429" cy="230429"/>
          </a:xfrm>
          <a:prstGeom prst="round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647481" y="3931920"/>
            <a:ext cx="148133" cy="148133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606333" y="4063594"/>
            <a:ext cx="230429" cy="230429"/>
          </a:xfrm>
          <a:prstGeom prst="round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910828" y="3931920"/>
            <a:ext cx="148133" cy="148133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69680" y="4063594"/>
            <a:ext cx="230429" cy="230429"/>
          </a:xfrm>
          <a:prstGeom prst="round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174175" y="3931920"/>
            <a:ext cx="148133" cy="148133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133027" y="4063594"/>
            <a:ext cx="230429" cy="230429"/>
          </a:xfrm>
          <a:prstGeom prst="round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120786" y="4277563"/>
            <a:ext cx="148133" cy="148133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079638" y="4409237"/>
            <a:ext cx="230429" cy="230429"/>
          </a:xfrm>
          <a:prstGeom prst="round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384134" y="4277563"/>
            <a:ext cx="148133" cy="148133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342986" y="4409237"/>
            <a:ext cx="230429" cy="230429"/>
          </a:xfrm>
          <a:prstGeom prst="round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47481" y="4277563"/>
            <a:ext cx="148133" cy="148133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06333" y="4409237"/>
            <a:ext cx="230429" cy="230429"/>
          </a:xfrm>
          <a:prstGeom prst="round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910828" y="4277563"/>
            <a:ext cx="148133" cy="148133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869680" y="4409237"/>
            <a:ext cx="230429" cy="230429"/>
          </a:xfrm>
          <a:prstGeom prst="round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174175" y="4277563"/>
            <a:ext cx="148133" cy="148133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133027" y="4409237"/>
            <a:ext cx="230429" cy="230429"/>
          </a:xfrm>
          <a:prstGeom prst="round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104120" y="3063240"/>
            <a:ext cx="713232" cy="0"/>
          </a:xfrm>
          <a:prstGeom prst="line">
            <a:avLst/>
          </a:prstGeom>
          <a:noFill/>
          <a:ln w="2794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75" name="Text 73"/>
          <p:cNvSpPr/>
          <p:nvPr/>
        </p:nvSpPr>
        <p:spPr>
          <a:xfrm>
            <a:off x="10588752" y="2770632"/>
            <a:ext cx="530352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F8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8EB"/>
          </a:solidFill>
          <a:ln w="12700">
            <a:solidFill>
              <a:srgbClr val="E3F8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BEEAD0">
              <a:alpha val="75000"/>
            </a:srgbClr>
          </a:solidFill>
          <a:ln w="12700">
            <a:solidFill>
              <a:srgbClr val="BEEAD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加法學生練習 1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學生任務：圈出重點字眼，先選運算，再說原因。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188720"/>
            <a:ext cx="154533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31136" y="1307592"/>
            <a:ext cx="164592" cy="0"/>
          </a:xfrm>
          <a:prstGeom prst="line">
            <a:avLst/>
          </a:prstGeom>
          <a:noFill/>
          <a:ln w="1905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87168" y="1115568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188720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找資料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9624" y="1307592"/>
            <a:ext cx="164592" cy="0"/>
          </a:xfrm>
          <a:prstGeom prst="line">
            <a:avLst/>
          </a:prstGeom>
          <a:noFill/>
          <a:ln w="1905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105656" y="1115568"/>
            <a:ext cx="1536192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33088" y="1188720"/>
            <a:ext cx="1481328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判斷意思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78424" y="1307592"/>
            <a:ext cx="164592" cy="0"/>
          </a:xfrm>
          <a:prstGeom prst="line">
            <a:avLst/>
          </a:prstGeom>
          <a:noFill/>
          <a:ln w="1905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34456" y="1115568"/>
            <a:ext cx="1417320" cy="384048"/>
          </a:xfrm>
          <a:prstGeom prst="roundRect">
            <a:avLst/>
          </a:prstGeom>
          <a:solidFill>
            <a:srgbClr val="1B8A5A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61888" y="1188720"/>
            <a:ext cx="136245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88352" y="1307592"/>
            <a:ext cx="164592" cy="0"/>
          </a:xfrm>
          <a:prstGeom prst="line">
            <a:avLst/>
          </a:prstGeom>
          <a:noFill/>
          <a:ln w="1905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644384" y="1115568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71816" y="1188720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寫算式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1508760"/>
            <a:ext cx="10058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A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" y="1828800"/>
            <a:ext cx="65379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EEA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1938528"/>
            <a:ext cx="6208776" cy="6492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書架上有 8 本故事書和 6 本漫畫書。書架上一共有多少本書？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749808" y="2816352"/>
            <a:ext cx="1508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圈重點字眼：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331720" y="2971800"/>
            <a:ext cx="274320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5440680" y="2807208"/>
            <a:ext cx="914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選運算：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99632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99632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638544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38544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077456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77456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8368" y="3657600"/>
            <a:ext cx="10058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B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8368" y="3977640"/>
            <a:ext cx="65379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EEA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087368"/>
            <a:ext cx="6208776" cy="6492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桌上有 9 個蘋果和 7 個橙。桌上一共有多少個水果？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749808" y="4965192"/>
            <a:ext cx="1508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圈重點字眼：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331720" y="5120640"/>
            <a:ext cx="274320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5440680" y="4956048"/>
            <a:ext cx="914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選運算：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199632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99632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638544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38544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077456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077456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772400" y="1417320"/>
            <a:ext cx="3383280" cy="4526280"/>
          </a:xfrm>
          <a:prstGeom prst="roundRect">
            <a:avLst/>
          </a:prstGeom>
          <a:solidFill>
            <a:srgbClr val="FFFFFF">
              <a:alpha val="95000"/>
            </a:srgbClr>
          </a:solidFill>
          <a:ln w="25400">
            <a:solidFill>
              <a:srgbClr val="BEEAD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92440" y="1783080"/>
            <a:ext cx="225857" cy="295351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35874" y="1826514"/>
            <a:ext cx="0" cy="208483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8405165" y="1783080"/>
            <a:ext cx="225857" cy="295351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448599" y="1826514"/>
            <a:ext cx="0" cy="208483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8717890" y="1783080"/>
            <a:ext cx="225857" cy="295351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761324" y="1826514"/>
            <a:ext cx="0" cy="208483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53" name="Shape 51"/>
          <p:cNvSpPr/>
          <p:nvPr/>
        </p:nvSpPr>
        <p:spPr>
          <a:xfrm>
            <a:off x="9030614" y="1783080"/>
            <a:ext cx="225857" cy="295351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074048" y="1826514"/>
            <a:ext cx="0" cy="208483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8092440" y="2113178"/>
            <a:ext cx="225857" cy="295351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135874" y="2156612"/>
            <a:ext cx="0" cy="208483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57" name="Shape 55"/>
          <p:cNvSpPr/>
          <p:nvPr/>
        </p:nvSpPr>
        <p:spPr>
          <a:xfrm>
            <a:off x="8405165" y="2113178"/>
            <a:ext cx="225857" cy="295351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448599" y="2156612"/>
            <a:ext cx="0" cy="208483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8717890" y="2113178"/>
            <a:ext cx="225857" cy="295351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761324" y="2156612"/>
            <a:ext cx="0" cy="208483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9030614" y="2113178"/>
            <a:ext cx="225857" cy="295351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074048" y="2156612"/>
            <a:ext cx="0" cy="208483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63" name="Shape 61"/>
          <p:cNvSpPr/>
          <p:nvPr/>
        </p:nvSpPr>
        <p:spPr>
          <a:xfrm>
            <a:off x="9646920" y="1783080"/>
            <a:ext cx="225857" cy="295351"/>
          </a:xfrm>
          <a:prstGeom prst="rect">
            <a:avLst/>
          </a:prstGeom>
          <a:solidFill>
            <a:srgbClr val="F472B6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690354" y="1826514"/>
            <a:ext cx="0" cy="208483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65" name="Shape 63"/>
          <p:cNvSpPr/>
          <p:nvPr/>
        </p:nvSpPr>
        <p:spPr>
          <a:xfrm>
            <a:off x="9959645" y="1783080"/>
            <a:ext cx="225857" cy="295351"/>
          </a:xfrm>
          <a:prstGeom prst="rect">
            <a:avLst/>
          </a:prstGeom>
          <a:solidFill>
            <a:srgbClr val="F472B6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003079" y="1826514"/>
            <a:ext cx="0" cy="208483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10272370" y="1783080"/>
            <a:ext cx="225857" cy="295351"/>
          </a:xfrm>
          <a:prstGeom prst="rect">
            <a:avLst/>
          </a:prstGeom>
          <a:solidFill>
            <a:srgbClr val="F472B6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315804" y="1826514"/>
            <a:ext cx="0" cy="208483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9646920" y="2113178"/>
            <a:ext cx="225857" cy="295351"/>
          </a:xfrm>
          <a:prstGeom prst="rect">
            <a:avLst/>
          </a:prstGeom>
          <a:solidFill>
            <a:srgbClr val="F472B6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690354" y="2156612"/>
            <a:ext cx="0" cy="208483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71" name="Shape 69"/>
          <p:cNvSpPr/>
          <p:nvPr/>
        </p:nvSpPr>
        <p:spPr>
          <a:xfrm>
            <a:off x="9959645" y="2113178"/>
            <a:ext cx="225857" cy="295351"/>
          </a:xfrm>
          <a:prstGeom prst="rect">
            <a:avLst/>
          </a:prstGeom>
          <a:solidFill>
            <a:srgbClr val="F472B6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003079" y="2156612"/>
            <a:ext cx="0" cy="208483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73" name="Shape 71"/>
          <p:cNvSpPr/>
          <p:nvPr/>
        </p:nvSpPr>
        <p:spPr>
          <a:xfrm>
            <a:off x="10272370" y="2113178"/>
            <a:ext cx="225857" cy="295351"/>
          </a:xfrm>
          <a:prstGeom prst="rect">
            <a:avLst/>
          </a:prstGeom>
          <a:solidFill>
            <a:srgbClr val="F472B6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315804" y="2156612"/>
            <a:ext cx="0" cy="208483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75" name="Shape 73"/>
          <p:cNvSpPr/>
          <p:nvPr/>
        </p:nvSpPr>
        <p:spPr>
          <a:xfrm>
            <a:off x="8092440" y="3143707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205368" y="3143707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8405165" y="3143707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518093" y="3143707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79" name="Shape 77"/>
          <p:cNvSpPr/>
          <p:nvPr/>
        </p:nvSpPr>
        <p:spPr>
          <a:xfrm>
            <a:off x="8717890" y="3143707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830818" y="3143707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81" name="Shape 79"/>
          <p:cNvSpPr/>
          <p:nvPr/>
        </p:nvSpPr>
        <p:spPr>
          <a:xfrm>
            <a:off x="9030614" y="3143707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143543" y="3143707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83" name="Shape 81"/>
          <p:cNvSpPr/>
          <p:nvPr/>
        </p:nvSpPr>
        <p:spPr>
          <a:xfrm>
            <a:off x="9343339" y="3143707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456268" y="3143707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85" name="Shape 83"/>
          <p:cNvSpPr/>
          <p:nvPr/>
        </p:nvSpPr>
        <p:spPr>
          <a:xfrm>
            <a:off x="8092440" y="3473806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205368" y="3473806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8405165" y="3473806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518093" y="3473806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89" name="Shape 87"/>
          <p:cNvSpPr/>
          <p:nvPr/>
        </p:nvSpPr>
        <p:spPr>
          <a:xfrm>
            <a:off x="8717890" y="3473806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830818" y="3473806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91" name="Shape 89"/>
          <p:cNvSpPr/>
          <p:nvPr/>
        </p:nvSpPr>
        <p:spPr>
          <a:xfrm>
            <a:off x="9030614" y="3473806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143543" y="3473806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93" name="Shape 91"/>
          <p:cNvSpPr/>
          <p:nvPr/>
        </p:nvSpPr>
        <p:spPr>
          <a:xfrm>
            <a:off x="9646920" y="3143707"/>
            <a:ext cx="225857" cy="225857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959645" y="3143707"/>
            <a:ext cx="225857" cy="225857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72370" y="3143707"/>
            <a:ext cx="225857" cy="225857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585094" y="3143707"/>
            <a:ext cx="225857" cy="225857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646920" y="3473806"/>
            <a:ext cx="225857" cy="225857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959645" y="3473806"/>
            <a:ext cx="225857" cy="225857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0272370" y="3473806"/>
            <a:ext cx="225857" cy="225857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F8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8EB"/>
          </a:solidFill>
          <a:ln w="12700">
            <a:solidFill>
              <a:srgbClr val="E3F8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BEEAD0">
              <a:alpha val="75000"/>
            </a:srgbClr>
          </a:solidFill>
          <a:ln w="12700">
            <a:solidFill>
              <a:srgbClr val="BEEAD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 1 講解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講解：每題都跟同一個流程分析。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94360" y="1078992"/>
            <a:ext cx="160020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152144"/>
            <a:ext cx="154533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31136" y="1271016"/>
            <a:ext cx="164592" cy="0"/>
          </a:xfrm>
          <a:prstGeom prst="line">
            <a:avLst/>
          </a:prstGeom>
          <a:noFill/>
          <a:ln w="1905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87168" y="1078992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152144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找資料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9624" y="1271016"/>
            <a:ext cx="164592" cy="0"/>
          </a:xfrm>
          <a:prstGeom prst="line">
            <a:avLst/>
          </a:prstGeom>
          <a:noFill/>
          <a:ln w="1905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105656" y="1078992"/>
            <a:ext cx="1536192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33088" y="1152144"/>
            <a:ext cx="1481328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判斷意思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78424" y="1271016"/>
            <a:ext cx="164592" cy="0"/>
          </a:xfrm>
          <a:prstGeom prst="line">
            <a:avLst/>
          </a:prstGeom>
          <a:noFill/>
          <a:ln w="1905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34456" y="1078992"/>
            <a:ext cx="1417320" cy="384048"/>
          </a:xfrm>
          <a:prstGeom prst="roundRect">
            <a:avLst/>
          </a:prstGeom>
          <a:solidFill>
            <a:srgbClr val="1B8A5A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61888" y="1152144"/>
            <a:ext cx="136245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88352" y="1271016"/>
            <a:ext cx="164592" cy="0"/>
          </a:xfrm>
          <a:prstGeom prst="line">
            <a:avLst/>
          </a:prstGeom>
          <a:noFill/>
          <a:ln w="1905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644384" y="1078992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71816" y="1152144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寫算式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3232" y="1691640"/>
            <a:ext cx="10332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EEA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" y="1947672"/>
            <a:ext cx="384048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325880" y="1901952"/>
            <a:ext cx="1005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A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1325880" y="2313432"/>
            <a:ext cx="1234440" cy="310896"/>
          </a:xfrm>
          <a:prstGeom prst="roundRect">
            <a:avLst/>
          </a:prstGeom>
          <a:solidFill>
            <a:srgbClr val="E3F8EB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53312" y="233172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743200" y="2295144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故事書、漫畫書、一共有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325880" y="2715768"/>
            <a:ext cx="1234440" cy="310896"/>
          </a:xfrm>
          <a:prstGeom prst="roundRect">
            <a:avLst/>
          </a:prstGeom>
          <a:solidFill>
            <a:srgbClr val="E3F8EB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53312" y="2734056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743200" y="2697480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兩種書合起來。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325880" y="3108960"/>
            <a:ext cx="1234440" cy="310896"/>
          </a:xfrm>
          <a:prstGeom prst="roundRect">
            <a:avLst/>
          </a:prstGeom>
          <a:solidFill>
            <a:srgbClr val="E3F8EB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53312" y="312724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743200" y="3090672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＋ 6 ＝ 14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713232" y="4023360"/>
            <a:ext cx="10332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EEA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1325880" y="4233672"/>
            <a:ext cx="1005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B</a:t>
            </a:r>
            <a:endParaRPr lang="en-US" sz="1900" dirty="0"/>
          </a:p>
        </p:txBody>
      </p:sp>
      <p:sp>
        <p:nvSpPr>
          <p:cNvPr id="37" name="Shape 35"/>
          <p:cNvSpPr/>
          <p:nvPr/>
        </p:nvSpPr>
        <p:spPr>
          <a:xfrm>
            <a:off x="1325880" y="4645152"/>
            <a:ext cx="1234440" cy="310896"/>
          </a:xfrm>
          <a:prstGeom prst="roundRect">
            <a:avLst/>
          </a:prstGeom>
          <a:solidFill>
            <a:srgbClr val="E3F8EB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53312" y="466344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743200" y="4626864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蘋果、橙、一共有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325880" y="5047488"/>
            <a:ext cx="1234440" cy="310896"/>
          </a:xfrm>
          <a:prstGeom prst="roundRect">
            <a:avLst/>
          </a:prstGeom>
          <a:solidFill>
            <a:srgbClr val="E3F8EB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353312" y="5065776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743200" y="5029200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兩種水果合起來。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1325880" y="5440680"/>
            <a:ext cx="1234440" cy="310896"/>
          </a:xfrm>
          <a:prstGeom prst="roundRect">
            <a:avLst/>
          </a:prstGeom>
          <a:solidFill>
            <a:srgbClr val="E3F8EB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53312" y="545896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743200" y="5422392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＋ 7 ＝ 16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F8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8EB"/>
          </a:solidFill>
          <a:ln w="12700">
            <a:solidFill>
              <a:srgbClr val="E3F8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BEEAD0">
              <a:alpha val="75000"/>
            </a:srgbClr>
          </a:solidFill>
          <a:ln w="12700">
            <a:solidFill>
              <a:srgbClr val="BEEAD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加法例題 2：數量增加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例題：跟着流程，一步一步判斷。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58368" y="1143000"/>
            <a:ext cx="69037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EEA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252728"/>
            <a:ext cx="6574536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小美原有 15 張貼紙，朋友再送她 5 張。小美現在有多少張貼紙？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圈出重點字眼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24028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6771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原有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42900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5643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再送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1772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4515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3232" y="2880360"/>
            <a:ext cx="1234440" cy="310896"/>
          </a:xfrm>
          <a:prstGeom prst="roundRect">
            <a:avLst/>
          </a:prstGeom>
          <a:solidFill>
            <a:srgbClr val="E3F8EB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" y="289864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30552" y="2862072"/>
            <a:ext cx="480060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原有的數量增加了。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13232" y="3456432"/>
            <a:ext cx="1234440" cy="310896"/>
          </a:xfrm>
          <a:prstGeom prst="roundRect">
            <a:avLst/>
          </a:prstGeom>
          <a:solidFill>
            <a:srgbClr val="E3F8EB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" y="347472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運算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30552" y="3438144"/>
            <a:ext cx="480060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加法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713232" y="4224528"/>
            <a:ext cx="5943600" cy="10515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B8A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416552"/>
            <a:ext cx="55321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＋ 5 ＝ 20</a:t>
            </a:r>
            <a:endParaRPr lang="en-US" sz="3400" dirty="0"/>
          </a:p>
        </p:txBody>
      </p:sp>
      <p:sp>
        <p:nvSpPr>
          <p:cNvPr id="25" name="Shape 23"/>
          <p:cNvSpPr/>
          <p:nvPr/>
        </p:nvSpPr>
        <p:spPr>
          <a:xfrm>
            <a:off x="7818120" y="1170432"/>
            <a:ext cx="3383280" cy="4663440"/>
          </a:xfrm>
          <a:prstGeom prst="roundRect">
            <a:avLst/>
          </a:prstGeom>
          <a:solidFill>
            <a:srgbClr val="FFFFFF">
              <a:alpha val="96000"/>
            </a:srgbClr>
          </a:solidFill>
          <a:ln w="25400">
            <a:solidFill>
              <a:srgbClr val="BEEA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0" y="2103120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原有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046720" y="2423160"/>
            <a:ext cx="6400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2800" dirty="0"/>
          </a:p>
        </p:txBody>
      </p:sp>
      <p:sp>
        <p:nvSpPr>
          <p:cNvPr id="28" name="Shape 26"/>
          <p:cNvSpPr/>
          <p:nvPr/>
        </p:nvSpPr>
        <p:spPr>
          <a:xfrm>
            <a:off x="8833104" y="2679192"/>
            <a:ext cx="914400" cy="0"/>
          </a:xfrm>
          <a:prstGeom prst="line">
            <a:avLst/>
          </a:prstGeom>
          <a:noFill/>
          <a:ln w="3810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9784080" y="2286000"/>
            <a:ext cx="86868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再送 5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10652760" y="2679192"/>
            <a:ext cx="822960" cy="0"/>
          </a:xfrm>
          <a:prstGeom prst="line">
            <a:avLst/>
          </a:prstGeom>
          <a:noFill/>
          <a:ln w="3810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11384280" y="2103120"/>
            <a:ext cx="731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1384280" y="2423160"/>
            <a:ext cx="7315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2800" dirty="0"/>
          </a:p>
        </p:txBody>
      </p:sp>
      <p:sp>
        <p:nvSpPr>
          <p:cNvPr id="33" name="Shape 31"/>
          <p:cNvSpPr/>
          <p:nvPr/>
        </p:nvSpPr>
        <p:spPr>
          <a:xfrm>
            <a:off x="8092440" y="3505810"/>
            <a:ext cx="202082" cy="20208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372246" y="3505810"/>
            <a:ext cx="202082" cy="20208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652053" y="3505810"/>
            <a:ext cx="202082" cy="20208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31859" y="3505810"/>
            <a:ext cx="202082" cy="20208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11666" y="3505810"/>
            <a:ext cx="202082" cy="20208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92440" y="3801161"/>
            <a:ext cx="202082" cy="20208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372246" y="3801161"/>
            <a:ext cx="202082" cy="20208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652053" y="3801161"/>
            <a:ext cx="202082" cy="20208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931859" y="3801161"/>
            <a:ext cx="202082" cy="20208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211666" y="3801161"/>
            <a:ext cx="202082" cy="20208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92440" y="4096512"/>
            <a:ext cx="202082" cy="20208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372246" y="4096512"/>
            <a:ext cx="202082" cy="20208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652053" y="4096512"/>
            <a:ext cx="202082" cy="20208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931859" y="4096512"/>
            <a:ext cx="202082" cy="20208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211666" y="4096512"/>
            <a:ext cx="202082" cy="20208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195560" y="3505810"/>
            <a:ext cx="202082" cy="20208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475366" y="3505810"/>
            <a:ext cx="202082" cy="20208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755173" y="3505810"/>
            <a:ext cx="202082" cy="20208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1034979" y="3505810"/>
            <a:ext cx="202082" cy="20208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314786" y="3505810"/>
            <a:ext cx="202082" cy="20208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F8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8EB"/>
          </a:solidFill>
          <a:ln w="12700">
            <a:solidFill>
              <a:srgbClr val="E3F8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BEEAD0">
              <a:alpha val="75000"/>
            </a:srgbClr>
          </a:solidFill>
          <a:ln w="12700">
            <a:solidFill>
              <a:srgbClr val="BEEAD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加法學生練習 2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學生任務：圈出重點字眼，先選運算，再說原因。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188720"/>
            <a:ext cx="154533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31136" y="1307592"/>
            <a:ext cx="164592" cy="0"/>
          </a:xfrm>
          <a:prstGeom prst="line">
            <a:avLst/>
          </a:prstGeom>
          <a:noFill/>
          <a:ln w="1905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87168" y="1115568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188720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找資料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9624" y="1307592"/>
            <a:ext cx="164592" cy="0"/>
          </a:xfrm>
          <a:prstGeom prst="line">
            <a:avLst/>
          </a:prstGeom>
          <a:noFill/>
          <a:ln w="1905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105656" y="1115568"/>
            <a:ext cx="1536192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33088" y="1188720"/>
            <a:ext cx="1481328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判斷意思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78424" y="1307592"/>
            <a:ext cx="164592" cy="0"/>
          </a:xfrm>
          <a:prstGeom prst="line">
            <a:avLst/>
          </a:prstGeom>
          <a:noFill/>
          <a:ln w="1905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34456" y="1115568"/>
            <a:ext cx="1417320" cy="384048"/>
          </a:xfrm>
          <a:prstGeom prst="roundRect">
            <a:avLst/>
          </a:prstGeom>
          <a:solidFill>
            <a:srgbClr val="1B8A5A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61888" y="1188720"/>
            <a:ext cx="136245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88352" y="1307592"/>
            <a:ext cx="164592" cy="0"/>
          </a:xfrm>
          <a:prstGeom prst="line">
            <a:avLst/>
          </a:prstGeom>
          <a:noFill/>
          <a:ln w="1905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644384" y="1115568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71816" y="1188720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寫算式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1508760"/>
            <a:ext cx="10058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A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" y="1828800"/>
            <a:ext cx="65379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EEA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1938528"/>
            <a:ext cx="6208776" cy="6492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小明原有 20 元，媽媽再給他 10 元。小明現在有多少元？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749808" y="2816352"/>
            <a:ext cx="1508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圈重點字眼：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331720" y="2971800"/>
            <a:ext cx="274320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5440680" y="2807208"/>
            <a:ext cx="914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選運算：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99632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99632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638544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38544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077456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77456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8368" y="3657600"/>
            <a:ext cx="10058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B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8368" y="3977640"/>
            <a:ext cx="65379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EEA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087368"/>
            <a:ext cx="6208776" cy="6492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盒子裏原有 13 粒糖，老師又放入 7 粒。盒子裏現在有多少粒糖？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749808" y="4965192"/>
            <a:ext cx="1508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圈重點字眼：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331720" y="5120640"/>
            <a:ext cx="274320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5440680" y="4956048"/>
            <a:ext cx="914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選運算：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199632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99632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638544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38544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077456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077456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772400" y="1417320"/>
            <a:ext cx="3383280" cy="4526280"/>
          </a:xfrm>
          <a:prstGeom prst="roundRect">
            <a:avLst/>
          </a:prstGeom>
          <a:solidFill>
            <a:srgbClr val="FFFFFF">
              <a:alpha val="95000"/>
            </a:srgbClr>
          </a:solidFill>
          <a:ln w="25400">
            <a:solidFill>
              <a:srgbClr val="BEEAD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92440" y="1826514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79308" y="1839544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8405165" y="1826514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92033" y="1839544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51" name="Shape 49"/>
          <p:cNvSpPr/>
          <p:nvPr/>
        </p:nvSpPr>
        <p:spPr>
          <a:xfrm>
            <a:off x="8717890" y="1826514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804758" y="1839544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53" name="Shape 51"/>
          <p:cNvSpPr/>
          <p:nvPr/>
        </p:nvSpPr>
        <p:spPr>
          <a:xfrm>
            <a:off x="9030614" y="1826514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117482" y="1839544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8092440" y="2156612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179308" y="2169643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8405165" y="2156612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492033" y="2169643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8717890" y="2156612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04758" y="2169643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61" name="Shape 59"/>
          <p:cNvSpPr/>
          <p:nvPr/>
        </p:nvSpPr>
        <p:spPr>
          <a:xfrm>
            <a:off x="9030614" y="2156612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17482" y="2169643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63" name="Shape 61"/>
          <p:cNvSpPr/>
          <p:nvPr/>
        </p:nvSpPr>
        <p:spPr>
          <a:xfrm>
            <a:off x="8092440" y="2486711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179308" y="2499741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65" name="Shape 63"/>
          <p:cNvSpPr/>
          <p:nvPr/>
        </p:nvSpPr>
        <p:spPr>
          <a:xfrm>
            <a:off x="8405165" y="2486711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492033" y="2499741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67" name="Shape 65"/>
          <p:cNvSpPr/>
          <p:nvPr/>
        </p:nvSpPr>
        <p:spPr>
          <a:xfrm>
            <a:off x="9646920" y="1826514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3788" y="1839544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69" name="Shape 67"/>
          <p:cNvSpPr/>
          <p:nvPr/>
        </p:nvSpPr>
        <p:spPr>
          <a:xfrm>
            <a:off x="9959645" y="1826514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46513" y="1839544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71" name="Shape 69"/>
          <p:cNvSpPr/>
          <p:nvPr/>
        </p:nvSpPr>
        <p:spPr>
          <a:xfrm>
            <a:off x="10272370" y="1826514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359238" y="1839544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73" name="Shape 71"/>
          <p:cNvSpPr/>
          <p:nvPr/>
        </p:nvSpPr>
        <p:spPr>
          <a:xfrm>
            <a:off x="10585094" y="1826514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671962" y="1839544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75" name="Shape 73"/>
          <p:cNvSpPr/>
          <p:nvPr/>
        </p:nvSpPr>
        <p:spPr>
          <a:xfrm>
            <a:off x="9646920" y="2156612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733788" y="2169643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77" name="Shape 75"/>
          <p:cNvSpPr/>
          <p:nvPr/>
        </p:nvSpPr>
        <p:spPr>
          <a:xfrm>
            <a:off x="9959645" y="2156612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046513" y="2169643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79" name="Shape 77"/>
          <p:cNvSpPr/>
          <p:nvPr/>
        </p:nvSpPr>
        <p:spPr>
          <a:xfrm>
            <a:off x="10272370" y="2156612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359238" y="2169643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0585094" y="2156612"/>
            <a:ext cx="330098" cy="191110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10671962" y="2169643"/>
            <a:ext cx="156362" cy="13898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760" dirty="0"/>
          </a:p>
        </p:txBody>
      </p:sp>
      <p:sp>
        <p:nvSpPr>
          <p:cNvPr id="83" name="Shape 81"/>
          <p:cNvSpPr/>
          <p:nvPr/>
        </p:nvSpPr>
        <p:spPr>
          <a:xfrm>
            <a:off x="8092440" y="3536899"/>
            <a:ext cx="864108" cy="452628"/>
          </a:xfrm>
          <a:prstGeom prst="roundRect">
            <a:avLst/>
          </a:prstGeom>
          <a:solidFill>
            <a:srgbClr val="BEEAD0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133588" y="3586277"/>
            <a:ext cx="781812" cy="148133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675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糖果盒</a:t>
            </a:r>
            <a:endParaRPr lang="en-US" sz="675" dirty="0"/>
          </a:p>
        </p:txBody>
      </p:sp>
      <p:sp>
        <p:nvSpPr>
          <p:cNvPr id="85" name="Shape 83"/>
          <p:cNvSpPr/>
          <p:nvPr/>
        </p:nvSpPr>
        <p:spPr>
          <a:xfrm>
            <a:off x="8199425" y="3199486"/>
            <a:ext cx="160477" cy="160477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421624" y="3199486"/>
            <a:ext cx="160477" cy="160477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643823" y="3199486"/>
            <a:ext cx="160477" cy="160477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199425" y="3434029"/>
            <a:ext cx="160477" cy="160477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421624" y="3434029"/>
            <a:ext cx="160477" cy="160477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643823" y="3434029"/>
            <a:ext cx="160477" cy="160477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199425" y="3668573"/>
            <a:ext cx="160477" cy="160477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46920" y="3143707"/>
            <a:ext cx="225857" cy="225857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959645" y="3143707"/>
            <a:ext cx="225857" cy="225857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272370" y="3143707"/>
            <a:ext cx="225857" cy="225857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585094" y="3143707"/>
            <a:ext cx="225857" cy="225857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646920" y="3473806"/>
            <a:ext cx="225857" cy="225857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959645" y="3473806"/>
            <a:ext cx="225857" cy="225857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0272370" y="3473806"/>
            <a:ext cx="225857" cy="225857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F8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8EB"/>
          </a:solidFill>
          <a:ln w="12700">
            <a:solidFill>
              <a:srgbClr val="E3F8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BEEAD0">
              <a:alpha val="75000"/>
            </a:srgbClr>
          </a:solidFill>
          <a:ln w="12700">
            <a:solidFill>
              <a:srgbClr val="BEEAD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 2 講解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講解：每題都跟同一個流程分析。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94360" y="1078992"/>
            <a:ext cx="160020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152144"/>
            <a:ext cx="154533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31136" y="1271016"/>
            <a:ext cx="164592" cy="0"/>
          </a:xfrm>
          <a:prstGeom prst="line">
            <a:avLst/>
          </a:prstGeom>
          <a:noFill/>
          <a:ln w="1905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87168" y="1078992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152144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找資料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9624" y="1271016"/>
            <a:ext cx="164592" cy="0"/>
          </a:xfrm>
          <a:prstGeom prst="line">
            <a:avLst/>
          </a:prstGeom>
          <a:noFill/>
          <a:ln w="1905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105656" y="1078992"/>
            <a:ext cx="1536192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33088" y="1152144"/>
            <a:ext cx="1481328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判斷意思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78424" y="1271016"/>
            <a:ext cx="164592" cy="0"/>
          </a:xfrm>
          <a:prstGeom prst="line">
            <a:avLst/>
          </a:prstGeom>
          <a:noFill/>
          <a:ln w="1905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34456" y="1078992"/>
            <a:ext cx="1417320" cy="384048"/>
          </a:xfrm>
          <a:prstGeom prst="roundRect">
            <a:avLst/>
          </a:prstGeom>
          <a:solidFill>
            <a:srgbClr val="1B8A5A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61888" y="1152144"/>
            <a:ext cx="136245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88352" y="1271016"/>
            <a:ext cx="164592" cy="0"/>
          </a:xfrm>
          <a:prstGeom prst="line">
            <a:avLst/>
          </a:prstGeom>
          <a:noFill/>
          <a:ln w="19050">
            <a:solidFill>
              <a:srgbClr val="1B8A5A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644384" y="1078992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B8A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71816" y="1152144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寫算式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3232" y="1691640"/>
            <a:ext cx="10332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EEA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" y="1947672"/>
            <a:ext cx="384048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325880" y="1901952"/>
            <a:ext cx="1005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A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1325880" y="2313432"/>
            <a:ext cx="1234440" cy="310896"/>
          </a:xfrm>
          <a:prstGeom prst="roundRect">
            <a:avLst/>
          </a:prstGeom>
          <a:solidFill>
            <a:srgbClr val="E3F8EB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53312" y="233172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743200" y="2295144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原有、再給、現在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325880" y="2715768"/>
            <a:ext cx="1234440" cy="310896"/>
          </a:xfrm>
          <a:prstGeom prst="roundRect">
            <a:avLst/>
          </a:prstGeom>
          <a:solidFill>
            <a:srgbClr val="E3F8EB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53312" y="2734056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743200" y="2697480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金錢增加了。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325880" y="3108960"/>
            <a:ext cx="1234440" cy="310896"/>
          </a:xfrm>
          <a:prstGeom prst="roundRect">
            <a:avLst/>
          </a:prstGeom>
          <a:solidFill>
            <a:srgbClr val="E3F8EB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53312" y="312724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743200" y="3090672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 ＋ 10 ＝ 30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713232" y="4023360"/>
            <a:ext cx="10332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EEA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1325880" y="4233672"/>
            <a:ext cx="1005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B</a:t>
            </a:r>
            <a:endParaRPr lang="en-US" sz="1900" dirty="0"/>
          </a:p>
        </p:txBody>
      </p:sp>
      <p:sp>
        <p:nvSpPr>
          <p:cNvPr id="37" name="Shape 35"/>
          <p:cNvSpPr/>
          <p:nvPr/>
        </p:nvSpPr>
        <p:spPr>
          <a:xfrm>
            <a:off x="1325880" y="4645152"/>
            <a:ext cx="1234440" cy="310896"/>
          </a:xfrm>
          <a:prstGeom prst="roundRect">
            <a:avLst/>
          </a:prstGeom>
          <a:solidFill>
            <a:srgbClr val="E3F8EB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53312" y="466344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743200" y="4626864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原有、又放入、現在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325880" y="5047488"/>
            <a:ext cx="1234440" cy="310896"/>
          </a:xfrm>
          <a:prstGeom prst="roundRect">
            <a:avLst/>
          </a:prstGeom>
          <a:solidFill>
            <a:srgbClr val="E3F8EB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353312" y="5065776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743200" y="5029200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糖果數量增加了。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1325880" y="5440680"/>
            <a:ext cx="1234440" cy="310896"/>
          </a:xfrm>
          <a:prstGeom prst="roundRect">
            <a:avLst/>
          </a:prstGeom>
          <a:solidFill>
            <a:srgbClr val="E3F8EB"/>
          </a:solidFill>
          <a:ln w="21590">
            <a:solidFill>
              <a:srgbClr val="1B8A5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53312" y="545896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743200" y="5422392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＋ 7 ＝ 20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0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0D8"/>
          </a:solidFill>
          <a:ln w="12700">
            <a:solidFill>
              <a:srgbClr val="FFF0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FCD99B">
              <a:alpha val="75000"/>
            </a:srgbClr>
          </a:solidFill>
          <a:ln w="12700">
            <a:solidFill>
              <a:srgbClr val="FCD99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減法例題 1：拿走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例題：跟着流程，一步一步判斷。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58368" y="1143000"/>
            <a:ext cx="69037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99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252728"/>
            <a:ext cx="6574536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籃子裏有 18 個蘋果，媽媽拿走了 6 個。籃子裏還剩多少個蘋果？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圈出重點字眼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24028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6771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拿走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42900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5643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還剩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13232" y="2880360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" y="289864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30552" y="2862072"/>
            <a:ext cx="480060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有一部分被拿走，數量減少。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13232" y="3456432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" y="347472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運算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130552" y="3438144"/>
            <a:ext cx="480060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減法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713232" y="4224528"/>
            <a:ext cx="5943600" cy="10515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416552"/>
            <a:ext cx="55321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 － 6 ＝ 12</a:t>
            </a:r>
            <a:endParaRPr lang="en-US" sz="3400" dirty="0"/>
          </a:p>
        </p:txBody>
      </p:sp>
      <p:sp>
        <p:nvSpPr>
          <p:cNvPr id="23" name="Shape 21"/>
          <p:cNvSpPr/>
          <p:nvPr/>
        </p:nvSpPr>
        <p:spPr>
          <a:xfrm>
            <a:off x="7818120" y="1170432"/>
            <a:ext cx="3383280" cy="4663440"/>
          </a:xfrm>
          <a:prstGeom prst="roundRect">
            <a:avLst/>
          </a:prstGeom>
          <a:solidFill>
            <a:srgbClr val="FFFFFF">
              <a:alpha val="96000"/>
            </a:srgbClr>
          </a:solidFill>
          <a:ln w="25400">
            <a:solidFill>
              <a:srgbClr val="FCD99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0" y="1463040"/>
            <a:ext cx="1417320" cy="320040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0" y="1490472"/>
            <a:ext cx="141732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 個蘋果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046720" y="1954987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9648" y="1954987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8029346" y="1937614"/>
            <a:ext cx="277978" cy="260604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8359445" y="1954987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72373" y="1954987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8342071" y="1937614"/>
            <a:ext cx="277978" cy="260604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8672170" y="1954987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785098" y="1954987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8654796" y="1937614"/>
            <a:ext cx="277978" cy="260604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8984894" y="1954987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97823" y="1954987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8967521" y="1937614"/>
            <a:ext cx="277978" cy="260604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9297619" y="1954987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410548" y="1954987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280246" y="1937614"/>
            <a:ext cx="277978" cy="260604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9610344" y="1954987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723272" y="1954987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9592970" y="1937614"/>
            <a:ext cx="277978" cy="260604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8046720" y="2285086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9648" y="2285086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8359445" y="2285086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72373" y="2285086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8672170" y="2285086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785098" y="2285086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8984894" y="2285086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097823" y="2285086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52" name="Shape 50"/>
          <p:cNvSpPr/>
          <p:nvPr/>
        </p:nvSpPr>
        <p:spPr>
          <a:xfrm>
            <a:off x="9297619" y="2285086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410548" y="2285086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9610344" y="2285086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723272" y="2285086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8046720" y="2615184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59648" y="2615184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58" name="Shape 56"/>
          <p:cNvSpPr/>
          <p:nvPr/>
        </p:nvSpPr>
        <p:spPr>
          <a:xfrm>
            <a:off x="8359445" y="2615184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472373" y="2615184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8672170" y="2615184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785098" y="2615184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62" name="Shape 60"/>
          <p:cNvSpPr/>
          <p:nvPr/>
        </p:nvSpPr>
        <p:spPr>
          <a:xfrm>
            <a:off x="8984894" y="2615184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097823" y="2615184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9297619" y="2615184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410548" y="2615184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66" name="Shape 64"/>
          <p:cNvSpPr/>
          <p:nvPr/>
        </p:nvSpPr>
        <p:spPr>
          <a:xfrm>
            <a:off x="9610344" y="2615184"/>
            <a:ext cx="225857" cy="225857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723272" y="2615184"/>
            <a:ext cx="34747" cy="-69494"/>
          </a:xfrm>
          <a:prstGeom prst="line">
            <a:avLst/>
          </a:prstGeom>
          <a:noFill/>
          <a:ln w="15240">
            <a:solidFill>
              <a:srgbClr val="166534"/>
            </a:solidFill>
            <a:prstDash val="solid"/>
            <a:headEnd type="none"/>
            <a:tailEnd type="none"/>
          </a:ln>
        </p:spPr>
      </p:sp>
      <p:sp>
        <p:nvSpPr>
          <p:cNvPr id="68" name="Shape 66"/>
          <p:cNvSpPr/>
          <p:nvPr/>
        </p:nvSpPr>
        <p:spPr>
          <a:xfrm>
            <a:off x="9509760" y="2743200"/>
            <a:ext cx="1097280" cy="-502920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  <a:headEnd type="none"/>
            <a:tailEnd type="triangle"/>
          </a:ln>
        </p:spPr>
      </p:sp>
      <p:sp>
        <p:nvSpPr>
          <p:cNvPr id="69" name="Text 67"/>
          <p:cNvSpPr/>
          <p:nvPr/>
        </p:nvSpPr>
        <p:spPr>
          <a:xfrm>
            <a:off x="9921240" y="1947672"/>
            <a:ext cx="10515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拿走 6 個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0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0D8"/>
          </a:solidFill>
          <a:ln w="12700">
            <a:solidFill>
              <a:srgbClr val="FFF0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FCD99B">
              <a:alpha val="75000"/>
            </a:srgbClr>
          </a:solidFill>
          <a:ln w="12700">
            <a:solidFill>
              <a:srgbClr val="FCD99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減法學生練習 1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學生任務：圈出重點字眼，先選運算，再說原因。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188720"/>
            <a:ext cx="154533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31136" y="1307592"/>
            <a:ext cx="16459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87168" y="1115568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188720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找資料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9624" y="1307592"/>
            <a:ext cx="16459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105656" y="1115568"/>
            <a:ext cx="1536192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33088" y="1188720"/>
            <a:ext cx="1481328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判斷意思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78424" y="1307592"/>
            <a:ext cx="16459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34456" y="1115568"/>
            <a:ext cx="1417320" cy="384048"/>
          </a:xfrm>
          <a:prstGeom prst="roundRect">
            <a:avLst/>
          </a:prstGeom>
          <a:solidFill>
            <a:srgbClr val="D97706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61888" y="1188720"/>
            <a:ext cx="136245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88352" y="1307592"/>
            <a:ext cx="16459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644384" y="1115568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71816" y="1188720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寫算式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1508760"/>
            <a:ext cx="10058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A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" y="1828800"/>
            <a:ext cx="65379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99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1938528"/>
            <a:ext cx="6208776" cy="6492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盒子裏有 16 枝鉛筆，小華用了 5 枝。盒子裏還有多少枝鉛筆？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749808" y="2816352"/>
            <a:ext cx="1508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圈重點字眼：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331720" y="2971800"/>
            <a:ext cx="274320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5440680" y="2807208"/>
            <a:ext cx="914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選運算：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99632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99632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638544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38544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077456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77456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8368" y="3657600"/>
            <a:ext cx="10058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B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8368" y="3977640"/>
            <a:ext cx="65379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99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087368"/>
            <a:ext cx="6208776" cy="6492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盤子裏有 14 塊餅乾，弟弟吃了 4 塊。盤子裏剩下多少塊餅乾？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749808" y="4965192"/>
            <a:ext cx="1508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圈重點字眼：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331720" y="5120640"/>
            <a:ext cx="274320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5440680" y="4956048"/>
            <a:ext cx="914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選運算：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199632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99632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638544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38544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077456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077456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772400" y="1417320"/>
            <a:ext cx="3383280" cy="4526280"/>
          </a:xfrm>
          <a:prstGeom prst="roundRect">
            <a:avLst/>
          </a:prstGeom>
          <a:solidFill>
            <a:srgbClr val="FFFFFF">
              <a:alpha val="95000"/>
            </a:srgbClr>
          </a:solidFill>
          <a:ln w="25400">
            <a:solidFill>
              <a:srgbClr val="FCD99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92440" y="1857146"/>
            <a:ext cx="263347" cy="6583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5400000">
            <a:off x="8347558" y="1844802"/>
            <a:ext cx="90526" cy="90526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388706" y="1857146"/>
            <a:ext cx="263347" cy="6583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643823" y="1844802"/>
            <a:ext cx="90526" cy="90526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684971" y="1857146"/>
            <a:ext cx="263347" cy="6583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rot="5400000">
            <a:off x="8940089" y="1844802"/>
            <a:ext cx="90526" cy="90526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981237" y="1857146"/>
            <a:ext cx="263347" cy="6583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9236354" y="1844802"/>
            <a:ext cx="90526" cy="90526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277502" y="1857146"/>
            <a:ext cx="263347" cy="6583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rot="5400000">
            <a:off x="9532620" y="1844802"/>
            <a:ext cx="90526" cy="90526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092440" y="2169871"/>
            <a:ext cx="263347" cy="6583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rot="5400000">
            <a:off x="8347558" y="2157527"/>
            <a:ext cx="90526" cy="90526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88706" y="2169871"/>
            <a:ext cx="263347" cy="6583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8643823" y="2157527"/>
            <a:ext cx="90526" cy="90526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684971" y="2169871"/>
            <a:ext cx="263347" cy="6583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rot="5400000">
            <a:off x="8940089" y="2157527"/>
            <a:ext cx="90526" cy="90526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981237" y="2169871"/>
            <a:ext cx="263347" cy="6583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5400000">
            <a:off x="9236354" y="2157527"/>
            <a:ext cx="90526" cy="90526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77502" y="2169871"/>
            <a:ext cx="263347" cy="6583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rot="5400000">
            <a:off x="9532620" y="2157527"/>
            <a:ext cx="90526" cy="90526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646920" y="1857146"/>
            <a:ext cx="263347" cy="65837"/>
          </a:xfrm>
          <a:prstGeom prst="rect">
            <a:avLst/>
          </a:prstGeom>
          <a:solidFill>
            <a:srgbClr val="FBBF24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rot="5400000">
            <a:off x="9902038" y="1844802"/>
            <a:ext cx="90526" cy="90526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943186" y="1857146"/>
            <a:ext cx="263347" cy="65837"/>
          </a:xfrm>
          <a:prstGeom prst="rect">
            <a:avLst/>
          </a:prstGeom>
          <a:solidFill>
            <a:srgbClr val="FBBF24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 rot="5400000">
            <a:off x="10198303" y="1844802"/>
            <a:ext cx="90526" cy="90526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239451" y="1857146"/>
            <a:ext cx="263347" cy="65837"/>
          </a:xfrm>
          <a:prstGeom prst="rect">
            <a:avLst/>
          </a:prstGeom>
          <a:solidFill>
            <a:srgbClr val="FBBF24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rot="5400000">
            <a:off x="10494569" y="1844802"/>
            <a:ext cx="90526" cy="90526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646920" y="2169871"/>
            <a:ext cx="263347" cy="65837"/>
          </a:xfrm>
          <a:prstGeom prst="rect">
            <a:avLst/>
          </a:prstGeom>
          <a:solidFill>
            <a:srgbClr val="FBBF24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rot="5400000">
            <a:off x="9902038" y="2157527"/>
            <a:ext cx="90526" cy="90526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943186" y="2169871"/>
            <a:ext cx="263347" cy="65837"/>
          </a:xfrm>
          <a:prstGeom prst="rect">
            <a:avLst/>
          </a:prstGeom>
          <a:solidFill>
            <a:srgbClr val="FBBF24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rot="5400000">
            <a:off x="10198303" y="2157527"/>
            <a:ext cx="90526" cy="90526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0239451" y="2169871"/>
            <a:ext cx="263347" cy="65837"/>
          </a:xfrm>
          <a:prstGeom prst="rect">
            <a:avLst/>
          </a:prstGeom>
          <a:solidFill>
            <a:srgbClr val="FBBF24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rot="5400000">
            <a:off x="10494569" y="2157527"/>
            <a:ext cx="90526" cy="90526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092440" y="3108960"/>
            <a:ext cx="246888" cy="2468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150047" y="3174797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240573" y="3224174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388706" y="3108960"/>
            <a:ext cx="246888" cy="2468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446313" y="3174797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536838" y="3224174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684971" y="3108960"/>
            <a:ext cx="246888" cy="2468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742578" y="3174797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833104" y="3224174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981237" y="3108960"/>
            <a:ext cx="246888" cy="2468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038844" y="3174797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129370" y="3224174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277502" y="3108960"/>
            <a:ext cx="246888" cy="2468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335110" y="3174797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425635" y="3224174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092440" y="3421685"/>
            <a:ext cx="246888" cy="2468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150047" y="3487522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240573" y="3536899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388706" y="3421685"/>
            <a:ext cx="246888" cy="2468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446313" y="3487522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536838" y="3536899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684971" y="3421685"/>
            <a:ext cx="246888" cy="2468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742578" y="3487522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833104" y="3536899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981237" y="3421685"/>
            <a:ext cx="246888" cy="2468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038844" y="3487522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29370" y="3536899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277502" y="3421685"/>
            <a:ext cx="246888" cy="2468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9335110" y="3487522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425635" y="3536899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646920" y="3108960"/>
            <a:ext cx="246888" cy="2468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704527" y="3174797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9795053" y="3224174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943186" y="3108960"/>
            <a:ext cx="246888" cy="2468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10000793" y="3174797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091318" y="3224174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0239451" y="3108960"/>
            <a:ext cx="246888" cy="2468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0297058" y="3174797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0387584" y="3224174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10535717" y="3108960"/>
            <a:ext cx="246888" cy="2468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10593324" y="3174797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10683850" y="3224174"/>
            <a:ext cx="32918" cy="32918"/>
          </a:xfrm>
          <a:prstGeom prst="ellipse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0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0D8"/>
          </a:solidFill>
          <a:ln w="12700">
            <a:solidFill>
              <a:srgbClr val="FFF0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FCD99B">
              <a:alpha val="75000"/>
            </a:srgbClr>
          </a:solidFill>
          <a:ln w="12700">
            <a:solidFill>
              <a:srgbClr val="FCD99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 1 講解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講解：每題都跟同一個流程分析。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94360" y="1078992"/>
            <a:ext cx="160020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152144"/>
            <a:ext cx="154533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31136" y="1271016"/>
            <a:ext cx="16459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87168" y="1078992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152144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找資料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9624" y="1271016"/>
            <a:ext cx="16459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105656" y="1078992"/>
            <a:ext cx="1536192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33088" y="1152144"/>
            <a:ext cx="1481328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判斷意思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78424" y="1271016"/>
            <a:ext cx="16459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34456" y="1078992"/>
            <a:ext cx="1417320" cy="384048"/>
          </a:xfrm>
          <a:prstGeom prst="roundRect">
            <a:avLst/>
          </a:prstGeom>
          <a:solidFill>
            <a:srgbClr val="D97706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61888" y="1152144"/>
            <a:ext cx="136245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88352" y="1271016"/>
            <a:ext cx="16459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644384" y="1078992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71816" y="1152144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寫算式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3232" y="1691640"/>
            <a:ext cx="10332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99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" y="1947672"/>
            <a:ext cx="384048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325880" y="1901952"/>
            <a:ext cx="1005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A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1325880" y="2313432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53312" y="233172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743200" y="2295144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用了、還有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325880" y="2715768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53312" y="2734056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743200" y="2697480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用去一部分，求剩下。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325880" y="3108960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53312" y="312724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743200" y="3090672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 － 5 ＝ 11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713232" y="4023360"/>
            <a:ext cx="10332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99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1325880" y="4233672"/>
            <a:ext cx="1005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B</a:t>
            </a:r>
            <a:endParaRPr lang="en-US" sz="1900" dirty="0"/>
          </a:p>
        </p:txBody>
      </p:sp>
      <p:sp>
        <p:nvSpPr>
          <p:cNvPr id="37" name="Shape 35"/>
          <p:cNvSpPr/>
          <p:nvPr/>
        </p:nvSpPr>
        <p:spPr>
          <a:xfrm>
            <a:off x="1325880" y="4645152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53312" y="466344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743200" y="4626864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吃了、剩下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325880" y="5047488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353312" y="5065776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743200" y="5029200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吃去一部分，求剩下。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1325880" y="5440680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53312" y="545896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743200" y="5422392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－ 4 ＝ 10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0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0D8"/>
          </a:solidFill>
          <a:ln w="12700">
            <a:solidFill>
              <a:srgbClr val="FFF0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FCD99B">
              <a:alpha val="75000"/>
            </a:srgbClr>
          </a:solidFill>
          <a:ln w="12700">
            <a:solidFill>
              <a:srgbClr val="FCD99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減法例題 2：比較多少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例題：跟着流程，一步一步判斷。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58368" y="1143000"/>
            <a:ext cx="69037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99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252728"/>
            <a:ext cx="6574536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哥哥有 24 張卡，妹妹有 16 張卡。哥哥比妹妹多多少張卡？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圈出重點字眼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24028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6771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比妹妹多多少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3232" y="2880360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289864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30552" y="2862072"/>
            <a:ext cx="480060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比較兩個數量的差。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13232" y="3456432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" y="347472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30552" y="3438144"/>
            <a:ext cx="480060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減法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713232" y="4224528"/>
            <a:ext cx="5943600" cy="10515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416552"/>
            <a:ext cx="55321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 － 16 ＝ 8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7818120" y="1170432"/>
            <a:ext cx="3383280" cy="4663440"/>
          </a:xfrm>
          <a:prstGeom prst="roundRect">
            <a:avLst/>
          </a:prstGeom>
          <a:solidFill>
            <a:srgbClr val="FFFFFF">
              <a:alpha val="96000"/>
            </a:srgbClr>
          </a:solidFill>
          <a:ln w="25400">
            <a:solidFill>
              <a:srgbClr val="FCD99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0" y="2514600"/>
            <a:ext cx="11430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哥哥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189720" y="2514600"/>
            <a:ext cx="2240280" cy="384048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521440" y="2560320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0" y="3227832"/>
            <a:ext cx="11430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妹妹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189720" y="3227832"/>
            <a:ext cx="1493520" cy="384048"/>
          </a:xfrm>
          <a:prstGeom prst="roundRect">
            <a:avLst/>
          </a:prstGeom>
          <a:solidFill>
            <a:srgbClr val="FCD99B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774680" y="327355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0683240" y="3044952"/>
            <a:ext cx="74676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0820400" y="2825496"/>
            <a:ext cx="658368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差距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389120"/>
            <a:ext cx="24231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較多數量 － 較少數量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0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0D8"/>
          </a:solidFill>
          <a:ln w="12700">
            <a:solidFill>
              <a:srgbClr val="FFF0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FCD99B">
              <a:alpha val="75000"/>
            </a:srgbClr>
          </a:solidFill>
          <a:ln w="12700">
            <a:solidFill>
              <a:srgbClr val="FCD99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比較型減法練習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學生任務：圈出重點字眼，先選運算，再說原因。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188720"/>
            <a:ext cx="154533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31136" y="1307592"/>
            <a:ext cx="16459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87168" y="1115568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188720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找資料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9624" y="1307592"/>
            <a:ext cx="16459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105656" y="1115568"/>
            <a:ext cx="1536192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33088" y="1188720"/>
            <a:ext cx="1481328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判斷意思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78424" y="1307592"/>
            <a:ext cx="16459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34456" y="1115568"/>
            <a:ext cx="1417320" cy="384048"/>
          </a:xfrm>
          <a:prstGeom prst="roundRect">
            <a:avLst/>
          </a:prstGeom>
          <a:solidFill>
            <a:srgbClr val="D97706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61888" y="1188720"/>
            <a:ext cx="136245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88352" y="1307592"/>
            <a:ext cx="16459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644384" y="1115568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71816" y="1188720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寫算式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1508760"/>
            <a:ext cx="10058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A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" y="1828800"/>
            <a:ext cx="65379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99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1938528"/>
            <a:ext cx="6208776" cy="6492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甲班有 32 人，乙班有 28 人。甲班比乙班多多少人？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749808" y="2816352"/>
            <a:ext cx="1508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圈重點字眼：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331720" y="2971800"/>
            <a:ext cx="274320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5440680" y="2807208"/>
            <a:ext cx="914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選運算：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99632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99632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638544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38544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077456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77456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8368" y="3657600"/>
            <a:ext cx="10058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B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8368" y="3977640"/>
            <a:ext cx="65379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99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087368"/>
            <a:ext cx="6208776" cy="6492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小欣有 25 粒糖，小美有 17 粒糖。小美比小欣少多少粒糖？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749808" y="4965192"/>
            <a:ext cx="1508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圈重點字眼：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331720" y="5120640"/>
            <a:ext cx="274320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5440680" y="4956048"/>
            <a:ext cx="914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選運算：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199632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99632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638544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38544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077456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077456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772400" y="1417320"/>
            <a:ext cx="3383280" cy="4526280"/>
          </a:xfrm>
          <a:prstGeom prst="roundRect">
            <a:avLst/>
          </a:prstGeom>
          <a:solidFill>
            <a:srgbClr val="FFFFFF">
              <a:alpha val="95000"/>
            </a:srgbClr>
          </a:solidFill>
          <a:ln w="25400">
            <a:solidFill>
              <a:srgbClr val="FCD99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66506" y="1783080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25358" y="1914754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29854" y="1783080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388706" y="1914754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693201" y="1783080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652053" y="1914754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956548" y="1783080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915400" y="1914754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66506" y="2128723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125358" y="2260397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429854" y="2128723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388706" y="2260397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693201" y="2128723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652053" y="2260397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956548" y="2128723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915400" y="2260397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720986" y="1783080"/>
            <a:ext cx="148133" cy="148133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679838" y="1914754"/>
            <a:ext cx="230429" cy="230429"/>
          </a:xfrm>
          <a:prstGeom prst="round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984334" y="1783080"/>
            <a:ext cx="148133" cy="148133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943186" y="1914754"/>
            <a:ext cx="230429" cy="230429"/>
          </a:xfrm>
          <a:prstGeom prst="round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247681" y="1783080"/>
            <a:ext cx="148133" cy="148133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206533" y="1914754"/>
            <a:ext cx="230429" cy="230429"/>
          </a:xfrm>
          <a:prstGeom prst="round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511028" y="1783080"/>
            <a:ext cx="148133" cy="148133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469880" y="1914754"/>
            <a:ext cx="230429" cy="230429"/>
          </a:xfrm>
          <a:prstGeom prst="round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720986" y="2128723"/>
            <a:ext cx="148133" cy="148133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79838" y="2260397"/>
            <a:ext cx="230429" cy="230429"/>
          </a:xfrm>
          <a:prstGeom prst="round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984334" y="2128723"/>
            <a:ext cx="148133" cy="148133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943186" y="2260397"/>
            <a:ext cx="230429" cy="230429"/>
          </a:xfrm>
          <a:prstGeom prst="round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247681" y="2128723"/>
            <a:ext cx="148133" cy="148133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206533" y="2260397"/>
            <a:ext cx="230429" cy="230429"/>
          </a:xfrm>
          <a:prstGeom prst="round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092440" y="3141878"/>
            <a:ext cx="213970" cy="21397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388706" y="3141878"/>
            <a:ext cx="213970" cy="21397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684971" y="3141878"/>
            <a:ext cx="213970" cy="21397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981237" y="3141878"/>
            <a:ext cx="213970" cy="21397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77502" y="3141878"/>
            <a:ext cx="213970" cy="21397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092440" y="3454603"/>
            <a:ext cx="213970" cy="21397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88706" y="3454603"/>
            <a:ext cx="213970" cy="21397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684971" y="3454603"/>
            <a:ext cx="213970" cy="21397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981237" y="3454603"/>
            <a:ext cx="213970" cy="21397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9277502" y="3454603"/>
            <a:ext cx="213970" cy="21397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646920" y="3141878"/>
            <a:ext cx="213970" cy="21397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943186" y="3141878"/>
            <a:ext cx="213970" cy="21397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239451" y="3141878"/>
            <a:ext cx="213970" cy="21397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535717" y="3141878"/>
            <a:ext cx="213970" cy="21397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646920" y="3454603"/>
            <a:ext cx="213970" cy="21397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943186" y="3454603"/>
            <a:ext cx="213970" cy="21397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239451" y="3454603"/>
            <a:ext cx="213970" cy="21397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0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0D8"/>
          </a:solidFill>
          <a:ln w="12700">
            <a:solidFill>
              <a:srgbClr val="FFF0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FCD99B">
              <a:alpha val="75000"/>
            </a:srgbClr>
          </a:solidFill>
          <a:ln w="12700">
            <a:solidFill>
              <a:srgbClr val="FCD99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比較型減法講解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講解：每題都跟同一個流程分析。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94360" y="1078992"/>
            <a:ext cx="160020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152144"/>
            <a:ext cx="154533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31136" y="1271016"/>
            <a:ext cx="16459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87168" y="1078992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152144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找資料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9624" y="1271016"/>
            <a:ext cx="16459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105656" y="1078992"/>
            <a:ext cx="1536192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33088" y="1152144"/>
            <a:ext cx="1481328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判斷意思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78424" y="1271016"/>
            <a:ext cx="16459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34456" y="1078992"/>
            <a:ext cx="1417320" cy="384048"/>
          </a:xfrm>
          <a:prstGeom prst="roundRect">
            <a:avLst/>
          </a:prstGeom>
          <a:solidFill>
            <a:srgbClr val="D97706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61888" y="1152144"/>
            <a:ext cx="136245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88352" y="1271016"/>
            <a:ext cx="16459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644384" y="1078992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71816" y="1152144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寫算式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3232" y="1691640"/>
            <a:ext cx="10332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99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" y="1947672"/>
            <a:ext cx="384048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325880" y="1901952"/>
            <a:ext cx="1005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A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1325880" y="2313432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53312" y="233172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743200" y="2295144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比……多多少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325880" y="2715768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53312" y="2734056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743200" y="2697480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比較兩班人數的差。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325880" y="3108960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53312" y="312724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743200" y="3090672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 － 28 ＝ 4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713232" y="4023360"/>
            <a:ext cx="10332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99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1325880" y="4233672"/>
            <a:ext cx="1005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B</a:t>
            </a:r>
            <a:endParaRPr lang="en-US" sz="1900" dirty="0"/>
          </a:p>
        </p:txBody>
      </p:sp>
      <p:sp>
        <p:nvSpPr>
          <p:cNvPr id="37" name="Shape 35"/>
          <p:cNvSpPr/>
          <p:nvPr/>
        </p:nvSpPr>
        <p:spPr>
          <a:xfrm>
            <a:off x="1325880" y="4645152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53312" y="466344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743200" y="4626864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比……少多少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325880" y="5047488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353312" y="5065776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743200" y="5029200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比較兩人糖果數量的差。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1325880" y="5440680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53312" y="545896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743200" y="5422392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 － 17 ＝ 8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5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EFFF"/>
          </a:solidFill>
          <a:ln w="12700">
            <a:solidFill>
              <a:srgbClr val="E5E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BFD6FF">
              <a:alpha val="75000"/>
            </a:srgbClr>
          </a:solidFill>
          <a:ln w="12700">
            <a:solidFill>
              <a:srgbClr val="BFD6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乘法例題 1：相同組數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例題：跟着流程，一步一步判斷。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58368" y="1143000"/>
            <a:ext cx="69037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FD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252728"/>
            <a:ext cx="6574536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每盒有 6 枝顏色筆，有 4 盒。一共有多少枝顏色筆？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圈出重點字眼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24028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6771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42900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5643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 4 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1772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4515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一共有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3232" y="2880360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" y="289864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30552" y="2862072"/>
            <a:ext cx="480060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每盒數量相同，有 4 組。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13232" y="3456432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" y="347472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運算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30552" y="3438144"/>
            <a:ext cx="480060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乘法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713232" y="4224528"/>
            <a:ext cx="5943600" cy="10515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416552"/>
            <a:ext cx="55321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× 4 ＝ 24</a:t>
            </a:r>
            <a:endParaRPr lang="en-US" sz="3400" dirty="0"/>
          </a:p>
        </p:txBody>
      </p:sp>
      <p:sp>
        <p:nvSpPr>
          <p:cNvPr id="25" name="Shape 23"/>
          <p:cNvSpPr/>
          <p:nvPr/>
        </p:nvSpPr>
        <p:spPr>
          <a:xfrm>
            <a:off x="7818120" y="1170432"/>
            <a:ext cx="3383280" cy="4663440"/>
          </a:xfrm>
          <a:prstGeom prst="roundRect">
            <a:avLst/>
          </a:prstGeom>
          <a:solidFill>
            <a:srgbClr val="FFFFFF">
              <a:alpha val="96000"/>
            </a:srgbClr>
          </a:solidFill>
          <a:ln w="25400">
            <a:solidFill>
              <a:srgbClr val="BFD6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0" y="2236622"/>
            <a:ext cx="1008126" cy="528066"/>
          </a:xfrm>
          <a:prstGeom prst="roundRect">
            <a:avLst/>
          </a:prstGeom>
          <a:solidFill>
            <a:srgbClr val="BFD6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94726" y="2294230"/>
            <a:ext cx="912114" cy="17282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盒1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8171536" y="1878978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8394764" y="1868176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30768" y="1878978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5400000">
            <a:off x="8653996" y="1868176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90000" y="1878978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5400000">
            <a:off x="8913228" y="1868176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71536" y="2152612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394764" y="2141811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430768" y="2152612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5400000">
            <a:off x="8653996" y="2141811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690000" y="2152612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5400000">
            <a:off x="8913228" y="2141811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464040" y="2236622"/>
            <a:ext cx="1008126" cy="528066"/>
          </a:xfrm>
          <a:prstGeom prst="roundRect">
            <a:avLst/>
          </a:prstGeom>
          <a:solidFill>
            <a:srgbClr val="BFD6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512046" y="2294230"/>
            <a:ext cx="912114" cy="17282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盒2</a:t>
            </a:r>
            <a:endParaRPr lang="en-US" sz="788" dirty="0"/>
          </a:p>
        </p:txBody>
      </p:sp>
      <p:sp>
        <p:nvSpPr>
          <p:cNvPr id="42" name="Shape 40"/>
          <p:cNvSpPr/>
          <p:nvPr/>
        </p:nvSpPr>
        <p:spPr>
          <a:xfrm>
            <a:off x="9588856" y="1878978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5400000">
            <a:off x="9812084" y="1868176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48088" y="1878978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5400000">
            <a:off x="10071316" y="1868176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107320" y="1878978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10330548" y="1868176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588856" y="2152612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5400000">
            <a:off x="9812084" y="2141811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848088" y="2152612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rot="5400000">
            <a:off x="10071316" y="2141811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107320" y="2152612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rot="5400000">
            <a:off x="10330548" y="2141811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046720" y="3882542"/>
            <a:ext cx="1008126" cy="528066"/>
          </a:xfrm>
          <a:prstGeom prst="roundRect">
            <a:avLst/>
          </a:prstGeom>
          <a:solidFill>
            <a:srgbClr val="BFD6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094726" y="3940150"/>
            <a:ext cx="912114" cy="17282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盒3</a:t>
            </a:r>
            <a:endParaRPr lang="en-US" sz="788" dirty="0"/>
          </a:p>
        </p:txBody>
      </p:sp>
      <p:sp>
        <p:nvSpPr>
          <p:cNvPr id="56" name="Shape 54"/>
          <p:cNvSpPr/>
          <p:nvPr/>
        </p:nvSpPr>
        <p:spPr>
          <a:xfrm>
            <a:off x="8171536" y="3524898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8394764" y="3514096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430768" y="3524898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rot="5400000">
            <a:off x="8653996" y="3514096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690000" y="3524898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rot="5400000">
            <a:off x="8913228" y="3514096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71536" y="3798532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394764" y="3787731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430768" y="3798532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rot="5400000">
            <a:off x="8653996" y="3787731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90000" y="3798532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5400000">
            <a:off x="8913228" y="3787731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464040" y="3882542"/>
            <a:ext cx="1008126" cy="528066"/>
          </a:xfrm>
          <a:prstGeom prst="roundRect">
            <a:avLst/>
          </a:prstGeom>
          <a:solidFill>
            <a:srgbClr val="BFD6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512046" y="3940150"/>
            <a:ext cx="912114" cy="17282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盒4</a:t>
            </a:r>
            <a:endParaRPr lang="en-US" sz="788" dirty="0"/>
          </a:p>
        </p:txBody>
      </p:sp>
      <p:sp>
        <p:nvSpPr>
          <p:cNvPr id="70" name="Shape 68"/>
          <p:cNvSpPr/>
          <p:nvPr/>
        </p:nvSpPr>
        <p:spPr>
          <a:xfrm>
            <a:off x="9588856" y="3524898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rot="5400000">
            <a:off x="9812084" y="3514096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848088" y="3524898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rot="5400000">
            <a:off x="10071316" y="3514096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107320" y="3524898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rot="5400000">
            <a:off x="10330548" y="3514096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588856" y="3798532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rot="5400000">
            <a:off x="9812084" y="3787731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48088" y="3798532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rot="5400000">
            <a:off x="10071316" y="3787731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07320" y="3798532"/>
            <a:ext cx="230429" cy="57607"/>
          </a:xfrm>
          <a:prstGeom prst="rect">
            <a:avLst/>
          </a:prstGeom>
          <a:solidFill>
            <a:srgbClr val="FACC15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rot="5400000">
            <a:off x="10330548" y="3787731"/>
            <a:ext cx="79210" cy="79210"/>
          </a:xfrm>
          <a:prstGeom prst="triangle">
            <a:avLst/>
          </a:prstGeom>
          <a:solidFill>
            <a:srgbClr val="F59E0B"/>
          </a:solidFill>
          <a:ln w="10160">
            <a:solidFill>
              <a:srgbClr val="92400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5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EFFF"/>
          </a:solidFill>
          <a:ln w="12700">
            <a:solidFill>
              <a:srgbClr val="E5E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BFD6FF">
              <a:alpha val="75000"/>
            </a:srgbClr>
          </a:solidFill>
          <a:ln w="12700">
            <a:solidFill>
              <a:srgbClr val="BFD6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乘法學生練習 1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學生任務：圈出重點字眼，先選運算，再說原因。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188720"/>
            <a:ext cx="154533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31136" y="1307592"/>
            <a:ext cx="164592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87168" y="1115568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188720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找資料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9624" y="1307592"/>
            <a:ext cx="164592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105656" y="1115568"/>
            <a:ext cx="1536192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33088" y="1188720"/>
            <a:ext cx="1481328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判斷意思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78424" y="1307592"/>
            <a:ext cx="164592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34456" y="1115568"/>
            <a:ext cx="1417320" cy="384048"/>
          </a:xfrm>
          <a:prstGeom prst="roundRect">
            <a:avLst/>
          </a:prstGeom>
          <a:solidFill>
            <a:srgbClr val="2563EB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61888" y="1188720"/>
            <a:ext cx="136245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88352" y="1307592"/>
            <a:ext cx="164592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644384" y="1115568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71816" y="1188720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寫算式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1508760"/>
            <a:ext cx="10058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A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" y="1828800"/>
            <a:ext cx="65379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FD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1938528"/>
            <a:ext cx="6208776" cy="6492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每袋有 5 個橙，有 6 袋。一共有多少個橙？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749808" y="2816352"/>
            <a:ext cx="1508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圈重點字眼：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331720" y="2971800"/>
            <a:ext cx="274320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5440680" y="2807208"/>
            <a:ext cx="914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選運算：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99632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99632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638544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38544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077456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77456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8368" y="3657600"/>
            <a:ext cx="10058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B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8368" y="3977640"/>
            <a:ext cx="65379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FD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087368"/>
            <a:ext cx="6208776" cy="6492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每張桌子坐 4 人，有 8 張桌子。一共可以坐多少人？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749808" y="4965192"/>
            <a:ext cx="1508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圈重點字眼：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331720" y="5120640"/>
            <a:ext cx="274320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5440680" y="4956048"/>
            <a:ext cx="914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選運算：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199632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99632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638544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38544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077456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077456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772400" y="1417320"/>
            <a:ext cx="3383280" cy="4526280"/>
          </a:xfrm>
          <a:prstGeom prst="roundRect">
            <a:avLst/>
          </a:prstGeom>
          <a:solidFill>
            <a:srgbClr val="FFFFFF">
              <a:alpha val="95000"/>
            </a:srgbClr>
          </a:solidFill>
          <a:ln w="25400">
            <a:solidFill>
              <a:srgbClr val="BFD6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92440" y="2211019"/>
            <a:ext cx="864108" cy="452628"/>
          </a:xfrm>
          <a:prstGeom prst="roundRect">
            <a:avLst/>
          </a:prstGeom>
          <a:solidFill>
            <a:srgbClr val="BFD6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33588" y="2260397"/>
            <a:ext cx="781812" cy="148133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675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袋</a:t>
            </a:r>
            <a:endParaRPr lang="en-US" sz="675" dirty="0"/>
          </a:p>
        </p:txBody>
      </p:sp>
      <p:sp>
        <p:nvSpPr>
          <p:cNvPr id="49" name="Shape 47"/>
          <p:cNvSpPr/>
          <p:nvPr/>
        </p:nvSpPr>
        <p:spPr>
          <a:xfrm>
            <a:off x="8199425" y="1873606"/>
            <a:ext cx="160477" cy="160477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421624" y="1873606"/>
            <a:ext cx="160477" cy="160477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643823" y="1873606"/>
            <a:ext cx="160477" cy="160477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199425" y="2108149"/>
            <a:ext cx="160477" cy="160477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421624" y="2108149"/>
            <a:ext cx="160477" cy="160477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646920" y="2211019"/>
            <a:ext cx="864108" cy="452628"/>
          </a:xfrm>
          <a:prstGeom prst="roundRect">
            <a:avLst/>
          </a:prstGeom>
          <a:solidFill>
            <a:srgbClr val="BFD6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88068" y="2260397"/>
            <a:ext cx="781812" cy="148133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675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袋</a:t>
            </a:r>
            <a:endParaRPr lang="en-US" sz="675" dirty="0"/>
          </a:p>
        </p:txBody>
      </p:sp>
      <p:sp>
        <p:nvSpPr>
          <p:cNvPr id="56" name="Shape 54"/>
          <p:cNvSpPr/>
          <p:nvPr/>
        </p:nvSpPr>
        <p:spPr>
          <a:xfrm>
            <a:off x="9753905" y="1873606"/>
            <a:ext cx="160477" cy="160477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976104" y="1873606"/>
            <a:ext cx="160477" cy="160477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198303" y="1873606"/>
            <a:ext cx="160477" cy="160477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753905" y="2108149"/>
            <a:ext cx="160477" cy="160477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976104" y="2108149"/>
            <a:ext cx="160477" cy="160477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092440" y="3195828"/>
            <a:ext cx="399593" cy="104242"/>
          </a:xfrm>
          <a:prstGeom prst="rect">
            <a:avLst/>
          </a:prstGeom>
          <a:solidFill>
            <a:srgbClr val="A16207"/>
          </a:solidFill>
          <a:ln w="12700">
            <a:solidFill>
              <a:srgbClr val="713F1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53248" y="3300070"/>
            <a:ext cx="0" cy="191110"/>
          </a:xfrm>
          <a:prstGeom prst="line">
            <a:avLst/>
          </a:prstGeom>
          <a:noFill/>
          <a:ln w="19050">
            <a:solidFill>
              <a:srgbClr val="713F12"/>
            </a:solidFill>
            <a:prstDash val="solid"/>
            <a:headEnd type="none"/>
            <a:tailEnd type="none"/>
          </a:ln>
        </p:spPr>
      </p:sp>
      <p:sp>
        <p:nvSpPr>
          <p:cNvPr id="63" name="Shape 61"/>
          <p:cNvSpPr/>
          <p:nvPr/>
        </p:nvSpPr>
        <p:spPr>
          <a:xfrm>
            <a:off x="8431225" y="3300070"/>
            <a:ext cx="0" cy="191110"/>
          </a:xfrm>
          <a:prstGeom prst="line">
            <a:avLst/>
          </a:prstGeom>
          <a:noFill/>
          <a:ln w="19050">
            <a:solidFill>
              <a:srgbClr val="713F12"/>
            </a:solidFill>
            <a:prstDash val="solid"/>
            <a:headEnd type="none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8405165" y="3195828"/>
            <a:ext cx="399593" cy="104242"/>
          </a:xfrm>
          <a:prstGeom prst="rect">
            <a:avLst/>
          </a:prstGeom>
          <a:solidFill>
            <a:srgbClr val="A16207"/>
          </a:solidFill>
          <a:ln w="12700">
            <a:solidFill>
              <a:srgbClr val="713F1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465972" y="3300070"/>
            <a:ext cx="0" cy="191110"/>
          </a:xfrm>
          <a:prstGeom prst="line">
            <a:avLst/>
          </a:prstGeom>
          <a:noFill/>
          <a:ln w="19050">
            <a:solidFill>
              <a:srgbClr val="713F12"/>
            </a:solidFill>
            <a:prstDash val="solid"/>
            <a:headEnd type="none"/>
            <a:tailEnd type="none"/>
          </a:ln>
        </p:spPr>
      </p:sp>
      <p:sp>
        <p:nvSpPr>
          <p:cNvPr id="66" name="Shape 64"/>
          <p:cNvSpPr/>
          <p:nvPr/>
        </p:nvSpPr>
        <p:spPr>
          <a:xfrm>
            <a:off x="8743950" y="3300070"/>
            <a:ext cx="0" cy="191110"/>
          </a:xfrm>
          <a:prstGeom prst="line">
            <a:avLst/>
          </a:prstGeom>
          <a:noFill/>
          <a:ln w="19050">
            <a:solidFill>
              <a:srgbClr val="713F12"/>
            </a:solidFill>
            <a:prstDash val="solid"/>
            <a:headEnd type="none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8092440" y="3525926"/>
            <a:ext cx="399593" cy="104242"/>
          </a:xfrm>
          <a:prstGeom prst="rect">
            <a:avLst/>
          </a:prstGeom>
          <a:solidFill>
            <a:srgbClr val="A16207"/>
          </a:solidFill>
          <a:ln w="12700">
            <a:solidFill>
              <a:srgbClr val="713F1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153248" y="3630168"/>
            <a:ext cx="0" cy="191110"/>
          </a:xfrm>
          <a:prstGeom prst="line">
            <a:avLst/>
          </a:prstGeom>
          <a:noFill/>
          <a:ln w="19050">
            <a:solidFill>
              <a:srgbClr val="713F12"/>
            </a:solidFill>
            <a:prstDash val="solid"/>
            <a:headEnd type="none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8431225" y="3630168"/>
            <a:ext cx="0" cy="191110"/>
          </a:xfrm>
          <a:prstGeom prst="line">
            <a:avLst/>
          </a:prstGeom>
          <a:noFill/>
          <a:ln w="19050">
            <a:solidFill>
              <a:srgbClr val="713F12"/>
            </a:solidFill>
            <a:prstDash val="solid"/>
            <a:headEnd type="none"/>
            <a:tailEnd type="none"/>
          </a:ln>
        </p:spPr>
      </p:sp>
      <p:sp>
        <p:nvSpPr>
          <p:cNvPr id="70" name="Shape 68"/>
          <p:cNvSpPr/>
          <p:nvPr/>
        </p:nvSpPr>
        <p:spPr>
          <a:xfrm>
            <a:off x="8405165" y="3525926"/>
            <a:ext cx="399593" cy="104242"/>
          </a:xfrm>
          <a:prstGeom prst="rect">
            <a:avLst/>
          </a:prstGeom>
          <a:solidFill>
            <a:srgbClr val="A16207"/>
          </a:solidFill>
          <a:ln w="12700">
            <a:solidFill>
              <a:srgbClr val="713F1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465972" y="3630168"/>
            <a:ext cx="0" cy="191110"/>
          </a:xfrm>
          <a:prstGeom prst="line">
            <a:avLst/>
          </a:prstGeom>
          <a:noFill/>
          <a:ln w="19050">
            <a:solidFill>
              <a:srgbClr val="713F12"/>
            </a:solidFill>
            <a:prstDash val="solid"/>
            <a:headEnd type="none"/>
            <a:tailEnd type="none"/>
          </a:ln>
        </p:spPr>
      </p:sp>
      <p:sp>
        <p:nvSpPr>
          <p:cNvPr id="72" name="Shape 70"/>
          <p:cNvSpPr/>
          <p:nvPr/>
        </p:nvSpPr>
        <p:spPr>
          <a:xfrm>
            <a:off x="8743950" y="3630168"/>
            <a:ext cx="0" cy="191110"/>
          </a:xfrm>
          <a:prstGeom prst="line">
            <a:avLst/>
          </a:prstGeom>
          <a:noFill/>
          <a:ln w="19050">
            <a:solidFill>
              <a:srgbClr val="713F12"/>
            </a:solidFill>
            <a:prstDash val="solid"/>
            <a:headEnd type="none"/>
            <a:tailEnd type="none"/>
          </a:ln>
        </p:spPr>
      </p:sp>
      <p:sp>
        <p:nvSpPr>
          <p:cNvPr id="73" name="Shape 71"/>
          <p:cNvSpPr/>
          <p:nvPr/>
        </p:nvSpPr>
        <p:spPr>
          <a:xfrm>
            <a:off x="9720986" y="3108960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79838" y="3240634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984334" y="3108960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943186" y="3240634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0247681" y="3108960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0206533" y="3240634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511028" y="3108960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469880" y="3240634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720986" y="3454603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679838" y="3586277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984334" y="3454603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943186" y="3586277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247681" y="3454603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206533" y="3586277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511028" y="3454603"/>
            <a:ext cx="148133" cy="14813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469880" y="3586277"/>
            <a:ext cx="230429" cy="230429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5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EFFF"/>
          </a:solidFill>
          <a:ln w="12700">
            <a:solidFill>
              <a:srgbClr val="E5E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BFD6FF">
              <a:alpha val="75000"/>
            </a:srgbClr>
          </a:solidFill>
          <a:ln w="12700">
            <a:solidFill>
              <a:srgbClr val="BFD6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乘法練習 1 講解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講解：每題都跟同一個流程分析。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94360" y="1078992"/>
            <a:ext cx="160020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152144"/>
            <a:ext cx="154533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31136" y="1271016"/>
            <a:ext cx="164592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87168" y="1078992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152144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找資料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9624" y="1271016"/>
            <a:ext cx="164592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105656" y="1078992"/>
            <a:ext cx="1536192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33088" y="1152144"/>
            <a:ext cx="1481328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判斷意思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78424" y="1271016"/>
            <a:ext cx="164592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34456" y="1078992"/>
            <a:ext cx="1417320" cy="384048"/>
          </a:xfrm>
          <a:prstGeom prst="roundRect">
            <a:avLst/>
          </a:prstGeom>
          <a:solidFill>
            <a:srgbClr val="2563EB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61888" y="1152144"/>
            <a:ext cx="136245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88352" y="1271016"/>
            <a:ext cx="164592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644384" y="1078992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71816" y="1152144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寫算式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3232" y="1691640"/>
            <a:ext cx="10332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FD6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" y="1947672"/>
            <a:ext cx="384048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325880" y="1901952"/>
            <a:ext cx="1005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A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1325880" y="2313432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53312" y="233172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743200" y="2295144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每袋、有 6 袋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325880" y="2715768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53312" y="2734056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743200" y="2697480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每袋 5 個，有 6 組。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325880" y="3108960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53312" y="312724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743200" y="3090672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× 6 ＝ 30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713232" y="4023360"/>
            <a:ext cx="10332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FD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1325880" y="4233672"/>
            <a:ext cx="1005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B</a:t>
            </a:r>
            <a:endParaRPr lang="en-US" sz="1900" dirty="0"/>
          </a:p>
        </p:txBody>
      </p:sp>
      <p:sp>
        <p:nvSpPr>
          <p:cNvPr id="37" name="Shape 35"/>
          <p:cNvSpPr/>
          <p:nvPr/>
        </p:nvSpPr>
        <p:spPr>
          <a:xfrm>
            <a:off x="1325880" y="4645152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53312" y="466344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743200" y="4626864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每張、有 8 張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325880" y="5047488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353312" y="5065776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743200" y="5029200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每張桌坐 4 人，有 8 組。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1325880" y="5440680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53312" y="545896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743200" y="5422392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× 8 ＝ 32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5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EFFF"/>
          </a:solidFill>
          <a:ln w="12700">
            <a:solidFill>
              <a:srgbClr val="E5E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BFD6FF">
              <a:alpha val="75000"/>
            </a:srgbClr>
          </a:solidFill>
          <a:ln w="12700">
            <a:solidFill>
              <a:srgbClr val="BFD6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乘法例題 2：排隊排列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例題：跟着流程，一步一步判斷。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58368" y="1143000"/>
            <a:ext cx="69037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FD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252728"/>
            <a:ext cx="6574536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操場上有 5 排學生，每排有 7 人。一共有多少人？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圈出重點字眼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24028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6771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42900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5643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1772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4515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3232" y="2880360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" y="289864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30552" y="2862072"/>
            <a:ext cx="480060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每排人數相同，有 5 組。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13232" y="3456432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" y="347472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運算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30552" y="3438144"/>
            <a:ext cx="480060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乘法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713232" y="4224528"/>
            <a:ext cx="5943600" cy="10515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416552"/>
            <a:ext cx="55321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× 5 ＝ 35</a:t>
            </a:r>
            <a:endParaRPr lang="en-US" sz="3400" dirty="0"/>
          </a:p>
        </p:txBody>
      </p:sp>
      <p:sp>
        <p:nvSpPr>
          <p:cNvPr id="25" name="Shape 23"/>
          <p:cNvSpPr/>
          <p:nvPr/>
        </p:nvSpPr>
        <p:spPr>
          <a:xfrm>
            <a:off x="7818120" y="1170432"/>
            <a:ext cx="3383280" cy="4663440"/>
          </a:xfrm>
          <a:prstGeom prst="roundRect">
            <a:avLst/>
          </a:prstGeom>
          <a:solidFill>
            <a:srgbClr val="FFFFFF">
              <a:alpha val="96000"/>
            </a:srgbClr>
          </a:solidFill>
          <a:ln w="25400">
            <a:solidFill>
              <a:srgbClr val="BFD6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16672" y="1737360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77810" y="1861718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65388" y="1737360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6526" y="1861718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614105" y="1737360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75243" y="1861718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62822" y="1737360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823960" y="1861718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11539" y="1737360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72677" y="1861718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360256" y="1737360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21394" y="1861718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608972" y="1737360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70110" y="1861718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78440" y="1819656"/>
            <a:ext cx="64008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排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116672" y="2313432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77810" y="2437790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65388" y="2313432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326526" y="2437790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614105" y="2313432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575243" y="2437790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862822" y="2313432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823960" y="2437790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111539" y="2313432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72677" y="2437790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360256" y="2313432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321394" y="2437790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608972" y="2313432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570110" y="2437790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378440" y="2395728"/>
            <a:ext cx="64008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 排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8116672" y="2889504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077810" y="3013862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365388" y="2889504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26526" y="3013862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614105" y="2889504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75243" y="3013862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62822" y="2889504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823960" y="3013862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111539" y="2889504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072677" y="3013862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60256" y="2889504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321394" y="3013862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608972" y="2889504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570110" y="3013862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378440" y="2971800"/>
            <a:ext cx="64008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3 排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8116672" y="3465576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077810" y="3589934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365388" y="3465576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26526" y="3589934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614105" y="3465576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575243" y="3589934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62822" y="3465576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823960" y="3589934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111539" y="3465576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072677" y="3589934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360256" y="3465576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321394" y="3589934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608972" y="3465576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570110" y="3589934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378440" y="3547872"/>
            <a:ext cx="64008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4 排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116672" y="4041648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77810" y="4166006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365388" y="4041648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326526" y="4166006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614105" y="4041648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575243" y="4166006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862822" y="4041648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823960" y="4166006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111539" y="4041648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9072677" y="4166006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360256" y="4041648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21394" y="4166006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608972" y="4041648"/>
            <a:ext cx="139903" cy="139903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570110" y="4166006"/>
            <a:ext cx="217627" cy="217627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0378440" y="4123944"/>
            <a:ext cx="64008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5 排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5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EFFF"/>
          </a:solidFill>
          <a:ln w="12700">
            <a:solidFill>
              <a:srgbClr val="E5E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BFD6FF">
              <a:alpha val="75000"/>
            </a:srgbClr>
          </a:solidFill>
          <a:ln w="12700">
            <a:solidFill>
              <a:srgbClr val="BFD6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排列型乘法練習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學生任務：圈出重點字眼，先選運算，再說原因。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188720"/>
            <a:ext cx="154533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31136" y="1307592"/>
            <a:ext cx="164592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87168" y="1115568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188720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找資料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9624" y="1307592"/>
            <a:ext cx="164592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105656" y="1115568"/>
            <a:ext cx="1536192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33088" y="1188720"/>
            <a:ext cx="1481328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判斷意思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78424" y="1307592"/>
            <a:ext cx="164592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34456" y="1115568"/>
            <a:ext cx="1417320" cy="384048"/>
          </a:xfrm>
          <a:prstGeom prst="roundRect">
            <a:avLst/>
          </a:prstGeom>
          <a:solidFill>
            <a:srgbClr val="2563EB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61888" y="1188720"/>
            <a:ext cx="136245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88352" y="1307592"/>
            <a:ext cx="164592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644384" y="1115568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71816" y="1188720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寫算式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1508760"/>
            <a:ext cx="10058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A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" y="1828800"/>
            <a:ext cx="65379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FD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1938528"/>
            <a:ext cx="6208776" cy="6492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禮堂裏有 6 排椅子，每排有 9 張。一共有多少張椅子？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749808" y="2816352"/>
            <a:ext cx="1508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圈重點字眼：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331720" y="2971800"/>
            <a:ext cx="274320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5440680" y="2807208"/>
            <a:ext cx="914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選運算：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99632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99632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638544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38544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077456" y="276148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77456" y="279349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8368" y="3657600"/>
            <a:ext cx="10058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B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8368" y="3977640"/>
            <a:ext cx="65379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FD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087368"/>
            <a:ext cx="6208776" cy="6492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花圃有 4 行花，每行有 8 朵。一共有多少朵花？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749808" y="4965192"/>
            <a:ext cx="1508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圈重點字眼：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331720" y="5120640"/>
            <a:ext cx="274320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5440680" y="4956048"/>
            <a:ext cx="914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選運算：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199632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99632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638544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38544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077456" y="4910328"/>
            <a:ext cx="329184" cy="3291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077456" y="4942332"/>
            <a:ext cx="329184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772400" y="1417320"/>
            <a:ext cx="3383280" cy="4526280"/>
          </a:xfrm>
          <a:prstGeom prst="roundRect">
            <a:avLst/>
          </a:prstGeom>
          <a:solidFill>
            <a:srgbClr val="FFFFFF">
              <a:alpha val="95000"/>
            </a:srgbClr>
          </a:solidFill>
          <a:ln w="25400">
            <a:solidFill>
              <a:srgbClr val="BFD6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92440" y="1855500"/>
            <a:ext cx="209215" cy="144841"/>
          </a:xfrm>
          <a:prstGeom prst="rect">
            <a:avLst/>
          </a:prstGeom>
          <a:solidFill>
            <a:srgbClr val="94A3B8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16580" y="199229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8269468" y="199229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8382122" y="1855500"/>
            <a:ext cx="209215" cy="144841"/>
          </a:xfrm>
          <a:prstGeom prst="rect">
            <a:avLst/>
          </a:prstGeom>
          <a:solidFill>
            <a:srgbClr val="94A3B8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406262" y="199229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52" name="Shape 50"/>
          <p:cNvSpPr/>
          <p:nvPr/>
        </p:nvSpPr>
        <p:spPr>
          <a:xfrm>
            <a:off x="8559150" y="199229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53" name="Shape 51"/>
          <p:cNvSpPr/>
          <p:nvPr/>
        </p:nvSpPr>
        <p:spPr>
          <a:xfrm>
            <a:off x="8671804" y="1855500"/>
            <a:ext cx="209215" cy="144841"/>
          </a:xfrm>
          <a:prstGeom prst="rect">
            <a:avLst/>
          </a:prstGeom>
          <a:solidFill>
            <a:srgbClr val="94A3B8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695944" y="199229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8848832" y="199229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8092440" y="2161276"/>
            <a:ext cx="209215" cy="144841"/>
          </a:xfrm>
          <a:prstGeom prst="rect">
            <a:avLst/>
          </a:prstGeom>
          <a:solidFill>
            <a:srgbClr val="94A3B8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16580" y="2298070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58" name="Shape 56"/>
          <p:cNvSpPr/>
          <p:nvPr/>
        </p:nvSpPr>
        <p:spPr>
          <a:xfrm>
            <a:off x="8269468" y="2298070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8382122" y="2161276"/>
            <a:ext cx="209215" cy="144841"/>
          </a:xfrm>
          <a:prstGeom prst="rect">
            <a:avLst/>
          </a:prstGeom>
          <a:solidFill>
            <a:srgbClr val="94A3B8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06262" y="2298070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8559150" y="2298070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62" name="Shape 60"/>
          <p:cNvSpPr/>
          <p:nvPr/>
        </p:nvSpPr>
        <p:spPr>
          <a:xfrm>
            <a:off x="8671804" y="2161276"/>
            <a:ext cx="209215" cy="144841"/>
          </a:xfrm>
          <a:prstGeom prst="rect">
            <a:avLst/>
          </a:prstGeom>
          <a:solidFill>
            <a:srgbClr val="94A3B8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695944" y="2298070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8848832" y="2298070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65" name="Shape 63"/>
          <p:cNvSpPr/>
          <p:nvPr/>
        </p:nvSpPr>
        <p:spPr>
          <a:xfrm>
            <a:off x="8092440" y="2467051"/>
            <a:ext cx="209215" cy="144841"/>
          </a:xfrm>
          <a:prstGeom prst="rect">
            <a:avLst/>
          </a:prstGeom>
          <a:solidFill>
            <a:srgbClr val="94A3B8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16580" y="260384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8269468" y="260384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68" name="Shape 66"/>
          <p:cNvSpPr/>
          <p:nvPr/>
        </p:nvSpPr>
        <p:spPr>
          <a:xfrm>
            <a:off x="8382122" y="2467051"/>
            <a:ext cx="209215" cy="144841"/>
          </a:xfrm>
          <a:prstGeom prst="rect">
            <a:avLst/>
          </a:prstGeom>
          <a:solidFill>
            <a:srgbClr val="94A3B8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406262" y="260384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70" name="Shape 68"/>
          <p:cNvSpPr/>
          <p:nvPr/>
        </p:nvSpPr>
        <p:spPr>
          <a:xfrm>
            <a:off x="8559150" y="260384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71" name="Shape 69"/>
          <p:cNvSpPr/>
          <p:nvPr/>
        </p:nvSpPr>
        <p:spPr>
          <a:xfrm>
            <a:off x="8671804" y="2467051"/>
            <a:ext cx="209215" cy="144841"/>
          </a:xfrm>
          <a:prstGeom prst="rect">
            <a:avLst/>
          </a:prstGeom>
          <a:solidFill>
            <a:srgbClr val="94A3B8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695944" y="260384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73" name="Shape 71"/>
          <p:cNvSpPr/>
          <p:nvPr/>
        </p:nvSpPr>
        <p:spPr>
          <a:xfrm>
            <a:off x="8848832" y="260384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74" name="Shape 72"/>
          <p:cNvSpPr/>
          <p:nvPr/>
        </p:nvSpPr>
        <p:spPr>
          <a:xfrm>
            <a:off x="9646920" y="1855500"/>
            <a:ext cx="209215" cy="144841"/>
          </a:xfrm>
          <a:prstGeom prst="rect">
            <a:avLst/>
          </a:prstGeom>
          <a:solidFill>
            <a:srgbClr val="CBD5E1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71060" y="199229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76" name="Shape 74"/>
          <p:cNvSpPr/>
          <p:nvPr/>
        </p:nvSpPr>
        <p:spPr>
          <a:xfrm>
            <a:off x="9823948" y="199229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9936602" y="1855500"/>
            <a:ext cx="209215" cy="144841"/>
          </a:xfrm>
          <a:prstGeom prst="rect">
            <a:avLst/>
          </a:prstGeom>
          <a:solidFill>
            <a:srgbClr val="CBD5E1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960742" y="199229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79" name="Shape 77"/>
          <p:cNvSpPr/>
          <p:nvPr/>
        </p:nvSpPr>
        <p:spPr>
          <a:xfrm>
            <a:off x="10113630" y="199229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10226284" y="1855500"/>
            <a:ext cx="209215" cy="144841"/>
          </a:xfrm>
          <a:prstGeom prst="rect">
            <a:avLst/>
          </a:prstGeom>
          <a:solidFill>
            <a:srgbClr val="CBD5E1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250424" y="199229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82" name="Shape 80"/>
          <p:cNvSpPr/>
          <p:nvPr/>
        </p:nvSpPr>
        <p:spPr>
          <a:xfrm>
            <a:off x="10403312" y="199229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83" name="Shape 81"/>
          <p:cNvSpPr/>
          <p:nvPr/>
        </p:nvSpPr>
        <p:spPr>
          <a:xfrm>
            <a:off x="9646920" y="2161276"/>
            <a:ext cx="209215" cy="144841"/>
          </a:xfrm>
          <a:prstGeom prst="rect">
            <a:avLst/>
          </a:prstGeom>
          <a:solidFill>
            <a:srgbClr val="CBD5E1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671060" y="2298070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85" name="Shape 83"/>
          <p:cNvSpPr/>
          <p:nvPr/>
        </p:nvSpPr>
        <p:spPr>
          <a:xfrm>
            <a:off x="9823948" y="2298070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86" name="Shape 84"/>
          <p:cNvSpPr/>
          <p:nvPr/>
        </p:nvSpPr>
        <p:spPr>
          <a:xfrm>
            <a:off x="9936602" y="2161276"/>
            <a:ext cx="209215" cy="144841"/>
          </a:xfrm>
          <a:prstGeom prst="rect">
            <a:avLst/>
          </a:prstGeom>
          <a:solidFill>
            <a:srgbClr val="CBD5E1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960742" y="2298070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88" name="Shape 86"/>
          <p:cNvSpPr/>
          <p:nvPr/>
        </p:nvSpPr>
        <p:spPr>
          <a:xfrm>
            <a:off x="10113630" y="2298070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89" name="Shape 87"/>
          <p:cNvSpPr/>
          <p:nvPr/>
        </p:nvSpPr>
        <p:spPr>
          <a:xfrm>
            <a:off x="10226284" y="2161276"/>
            <a:ext cx="209215" cy="144841"/>
          </a:xfrm>
          <a:prstGeom prst="rect">
            <a:avLst/>
          </a:prstGeom>
          <a:solidFill>
            <a:srgbClr val="CBD5E1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250424" y="2298070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91" name="Shape 89"/>
          <p:cNvSpPr/>
          <p:nvPr/>
        </p:nvSpPr>
        <p:spPr>
          <a:xfrm>
            <a:off x="10403312" y="2298070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92" name="Shape 90"/>
          <p:cNvSpPr/>
          <p:nvPr/>
        </p:nvSpPr>
        <p:spPr>
          <a:xfrm>
            <a:off x="9646920" y="2467051"/>
            <a:ext cx="209215" cy="144841"/>
          </a:xfrm>
          <a:prstGeom prst="rect">
            <a:avLst/>
          </a:prstGeom>
          <a:solidFill>
            <a:srgbClr val="CBD5E1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671060" y="260384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94" name="Shape 92"/>
          <p:cNvSpPr/>
          <p:nvPr/>
        </p:nvSpPr>
        <p:spPr>
          <a:xfrm>
            <a:off x="9823948" y="260384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95" name="Shape 93"/>
          <p:cNvSpPr/>
          <p:nvPr/>
        </p:nvSpPr>
        <p:spPr>
          <a:xfrm>
            <a:off x="9936602" y="2467051"/>
            <a:ext cx="209215" cy="144841"/>
          </a:xfrm>
          <a:prstGeom prst="rect">
            <a:avLst/>
          </a:prstGeom>
          <a:solidFill>
            <a:srgbClr val="CBD5E1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960742" y="260384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97" name="Shape 95"/>
          <p:cNvSpPr/>
          <p:nvPr/>
        </p:nvSpPr>
        <p:spPr>
          <a:xfrm>
            <a:off x="10113630" y="260384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98" name="Shape 96"/>
          <p:cNvSpPr/>
          <p:nvPr/>
        </p:nvSpPr>
        <p:spPr>
          <a:xfrm>
            <a:off x="10226284" y="2467051"/>
            <a:ext cx="209215" cy="144841"/>
          </a:xfrm>
          <a:prstGeom prst="rect">
            <a:avLst/>
          </a:prstGeom>
          <a:solidFill>
            <a:srgbClr val="CBD5E1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0250424" y="260384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100" name="Shape 98"/>
          <p:cNvSpPr/>
          <p:nvPr/>
        </p:nvSpPr>
        <p:spPr>
          <a:xfrm>
            <a:off x="10403312" y="2603845"/>
            <a:ext cx="0" cy="104607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none"/>
          </a:ln>
        </p:spPr>
      </p:sp>
      <p:sp>
        <p:nvSpPr>
          <p:cNvPr id="101" name="Shape 99"/>
          <p:cNvSpPr/>
          <p:nvPr/>
        </p:nvSpPr>
        <p:spPr>
          <a:xfrm>
            <a:off x="8092440" y="3143707"/>
            <a:ext cx="225857" cy="225857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153248" y="3091586"/>
            <a:ext cx="104242" cy="10424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205368" y="3352190"/>
            <a:ext cx="0" cy="138989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104" name="Shape 102"/>
          <p:cNvSpPr/>
          <p:nvPr/>
        </p:nvSpPr>
        <p:spPr>
          <a:xfrm>
            <a:off x="8405165" y="3143707"/>
            <a:ext cx="225857" cy="225857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465972" y="3091586"/>
            <a:ext cx="104242" cy="10424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518093" y="3352190"/>
            <a:ext cx="0" cy="138989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107" name="Shape 105"/>
          <p:cNvSpPr/>
          <p:nvPr/>
        </p:nvSpPr>
        <p:spPr>
          <a:xfrm>
            <a:off x="8717890" y="3143707"/>
            <a:ext cx="225857" cy="225857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778697" y="3091586"/>
            <a:ext cx="104242" cy="10424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830818" y="3352190"/>
            <a:ext cx="0" cy="138989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110" name="Shape 108"/>
          <p:cNvSpPr/>
          <p:nvPr/>
        </p:nvSpPr>
        <p:spPr>
          <a:xfrm>
            <a:off x="9030614" y="3143707"/>
            <a:ext cx="225857" cy="225857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9091422" y="3091586"/>
            <a:ext cx="104242" cy="10424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143543" y="3352190"/>
            <a:ext cx="0" cy="138989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113" name="Shape 111"/>
          <p:cNvSpPr/>
          <p:nvPr/>
        </p:nvSpPr>
        <p:spPr>
          <a:xfrm>
            <a:off x="8092440" y="3473806"/>
            <a:ext cx="225857" cy="225857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153248" y="3421685"/>
            <a:ext cx="104242" cy="10424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205368" y="3682289"/>
            <a:ext cx="0" cy="138989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116" name="Shape 114"/>
          <p:cNvSpPr/>
          <p:nvPr/>
        </p:nvSpPr>
        <p:spPr>
          <a:xfrm>
            <a:off x="8405165" y="3473806"/>
            <a:ext cx="225857" cy="225857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8465972" y="3421685"/>
            <a:ext cx="104242" cy="10424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8518093" y="3682289"/>
            <a:ext cx="0" cy="138989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119" name="Shape 117"/>
          <p:cNvSpPr/>
          <p:nvPr/>
        </p:nvSpPr>
        <p:spPr>
          <a:xfrm>
            <a:off x="8717890" y="3473806"/>
            <a:ext cx="225857" cy="225857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8778697" y="3421685"/>
            <a:ext cx="104242" cy="10424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830818" y="3682289"/>
            <a:ext cx="0" cy="138989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122" name="Shape 120"/>
          <p:cNvSpPr/>
          <p:nvPr/>
        </p:nvSpPr>
        <p:spPr>
          <a:xfrm>
            <a:off x="9030614" y="3473806"/>
            <a:ext cx="225857" cy="225857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091422" y="3421685"/>
            <a:ext cx="104242" cy="10424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9143543" y="3682289"/>
            <a:ext cx="0" cy="138989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125" name="Shape 123"/>
          <p:cNvSpPr/>
          <p:nvPr/>
        </p:nvSpPr>
        <p:spPr>
          <a:xfrm>
            <a:off x="9646920" y="3143707"/>
            <a:ext cx="225857" cy="225857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707728" y="3091586"/>
            <a:ext cx="104242" cy="10424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759848" y="3352190"/>
            <a:ext cx="0" cy="138989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128" name="Shape 126"/>
          <p:cNvSpPr/>
          <p:nvPr/>
        </p:nvSpPr>
        <p:spPr>
          <a:xfrm>
            <a:off x="9959645" y="3143707"/>
            <a:ext cx="225857" cy="225857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0020452" y="3091586"/>
            <a:ext cx="104242" cy="10424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0072573" y="3352190"/>
            <a:ext cx="0" cy="138989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131" name="Shape 129"/>
          <p:cNvSpPr/>
          <p:nvPr/>
        </p:nvSpPr>
        <p:spPr>
          <a:xfrm>
            <a:off x="10272370" y="3143707"/>
            <a:ext cx="225857" cy="225857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10333177" y="3091586"/>
            <a:ext cx="104242" cy="10424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10385298" y="3352190"/>
            <a:ext cx="0" cy="138989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134" name="Shape 132"/>
          <p:cNvSpPr/>
          <p:nvPr/>
        </p:nvSpPr>
        <p:spPr>
          <a:xfrm>
            <a:off x="10585094" y="3143707"/>
            <a:ext cx="225857" cy="225857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10645902" y="3091586"/>
            <a:ext cx="104242" cy="10424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0698023" y="3352190"/>
            <a:ext cx="0" cy="138989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137" name="Shape 135"/>
          <p:cNvSpPr/>
          <p:nvPr/>
        </p:nvSpPr>
        <p:spPr>
          <a:xfrm>
            <a:off x="9646920" y="3473806"/>
            <a:ext cx="225857" cy="225857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9707728" y="3421685"/>
            <a:ext cx="104242" cy="10424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759848" y="3682289"/>
            <a:ext cx="0" cy="138989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140" name="Shape 138"/>
          <p:cNvSpPr/>
          <p:nvPr/>
        </p:nvSpPr>
        <p:spPr>
          <a:xfrm>
            <a:off x="9959645" y="3473806"/>
            <a:ext cx="225857" cy="225857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10020452" y="3421685"/>
            <a:ext cx="104242" cy="10424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072573" y="3682289"/>
            <a:ext cx="0" cy="138989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143" name="Shape 141"/>
          <p:cNvSpPr/>
          <p:nvPr/>
        </p:nvSpPr>
        <p:spPr>
          <a:xfrm>
            <a:off x="10272370" y="3473806"/>
            <a:ext cx="225857" cy="225857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10333177" y="3421685"/>
            <a:ext cx="104242" cy="10424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0385298" y="3682289"/>
            <a:ext cx="0" cy="138989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146" name="Shape 144"/>
          <p:cNvSpPr/>
          <p:nvPr/>
        </p:nvSpPr>
        <p:spPr>
          <a:xfrm>
            <a:off x="10585094" y="3473806"/>
            <a:ext cx="225857" cy="225857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10645902" y="3421685"/>
            <a:ext cx="104242" cy="10424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0698023" y="3682289"/>
            <a:ext cx="0" cy="138989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149" name="Text 147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E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DDD6FE">
              <a:alpha val="75000"/>
            </a:srgbClr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混合練習 1：先判斷，不要急着計算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學生任務：只選擇 ＋、－、×。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13232" y="1417320"/>
            <a:ext cx="914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508760" y="1298448"/>
            <a:ext cx="704088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73352" y="1408176"/>
            <a:ext cx="6711696" cy="4389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小明有 12 粒糖，朋友再給他 6 粒。現在有多少粒糖？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915400" y="143560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15400" y="147218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482328" y="143560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82328" y="147218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049256" y="143560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49256" y="147218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3232" y="2926080"/>
            <a:ext cx="914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B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508760" y="2807208"/>
            <a:ext cx="704088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73352" y="2916936"/>
            <a:ext cx="6711696" cy="4389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每包有 6 塊餅乾，有 5 包。一共有多少塊餅乾？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915400" y="294436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15400" y="298094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482328" y="294436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82328" y="298094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0049256" y="294436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49256" y="298094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13232" y="4434840"/>
            <a:ext cx="914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C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508760" y="4315968"/>
            <a:ext cx="704088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73352" y="4425696"/>
            <a:ext cx="6711696" cy="4389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書架上有 30 本書，借出了 12 本。還有多少本書？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915400" y="445312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15400" y="448970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482328" y="445312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482328" y="448970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0049256" y="445312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9256" y="448970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68680" y="5989320"/>
            <a:ext cx="332842" cy="332842"/>
          </a:xfrm>
          <a:prstGeom prst="ellipse">
            <a:avLst/>
          </a:prstGeom>
          <a:solidFill>
            <a:srgbClr val="FFFFFF">
              <a:alpha val="0"/>
            </a:srgbClr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12368" y="6244895"/>
            <a:ext cx="166421" cy="166421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1344168" y="6071616"/>
            <a:ext cx="5486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先圈字，再舉高手勢選運算。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DDD6FE">
              <a:alpha val="75000"/>
            </a:srgbClr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混合練習 1 講解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講解：每題都跟同一個流程分析。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94360" y="1078992"/>
            <a:ext cx="160020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152144"/>
            <a:ext cx="154533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31136" y="1271016"/>
            <a:ext cx="164592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87168" y="1078992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152144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找資料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9624" y="1271016"/>
            <a:ext cx="164592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105656" y="1078992"/>
            <a:ext cx="1536192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33088" y="1152144"/>
            <a:ext cx="1481328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判斷意思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78424" y="1271016"/>
            <a:ext cx="164592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34456" y="1078992"/>
            <a:ext cx="1417320" cy="384048"/>
          </a:xfrm>
          <a:prstGeom prst="roundRect">
            <a:avLst/>
          </a:prstGeom>
          <a:solidFill>
            <a:srgbClr val="7C3AED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61888" y="1152144"/>
            <a:ext cx="136245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88352" y="1271016"/>
            <a:ext cx="164592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644384" y="1078992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71816" y="1152144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寫算式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3232" y="1691640"/>
            <a:ext cx="10332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" y="1947672"/>
            <a:ext cx="384048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325880" y="1901952"/>
            <a:ext cx="1005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A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1325880" y="2313432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53312" y="233172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743200" y="2295144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再給、現在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325880" y="2715768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53312" y="2734056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743200" y="2697480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數量增加，用加法。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325880" y="3108960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53312" y="312724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743200" y="3090672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＋ 6 ＝ 18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713232" y="4023360"/>
            <a:ext cx="10332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1325880" y="4233672"/>
            <a:ext cx="1005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B</a:t>
            </a:r>
            <a:endParaRPr lang="en-US" sz="1900" dirty="0"/>
          </a:p>
        </p:txBody>
      </p:sp>
      <p:sp>
        <p:nvSpPr>
          <p:cNvPr id="37" name="Shape 35"/>
          <p:cNvSpPr/>
          <p:nvPr/>
        </p:nvSpPr>
        <p:spPr>
          <a:xfrm>
            <a:off x="1325880" y="4645152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53312" y="466344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743200" y="4626864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每包、有 5 包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325880" y="5047488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353312" y="5065776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743200" y="5029200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相同組數，用乘法。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1325880" y="5440680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53312" y="545896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743200" y="5422392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× 5 ＝ 30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713232" y="6355080"/>
            <a:ext cx="10332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96112" y="6611112"/>
            <a:ext cx="384048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600" dirty="0"/>
          </a:p>
        </p:txBody>
      </p:sp>
      <p:sp>
        <p:nvSpPr>
          <p:cNvPr id="48" name="Text 46"/>
          <p:cNvSpPr/>
          <p:nvPr/>
        </p:nvSpPr>
        <p:spPr>
          <a:xfrm>
            <a:off x="1325880" y="6565392"/>
            <a:ext cx="1005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C</a:t>
            </a:r>
            <a:endParaRPr lang="en-US" sz="1900" dirty="0"/>
          </a:p>
        </p:txBody>
      </p:sp>
      <p:sp>
        <p:nvSpPr>
          <p:cNvPr id="49" name="Shape 47"/>
          <p:cNvSpPr/>
          <p:nvPr/>
        </p:nvSpPr>
        <p:spPr>
          <a:xfrm>
            <a:off x="1325880" y="6976872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353312" y="699516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743200" y="6958584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借出了、還有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1325880" y="7379208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53312" y="7397496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2743200" y="7360920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數量減少，用減法。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1325880" y="7772400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353312" y="779068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2743200" y="7754112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 － 12 ＝ 18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3E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DDD6FE">
              <a:alpha val="75000"/>
            </a:srgbClr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混合練習 2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學生任務：圈重點字，說出選運算的原因。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13232" y="1417320"/>
            <a:ext cx="914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508760" y="1298448"/>
            <a:ext cx="704088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73352" y="1408176"/>
            <a:ext cx="6711696" cy="4389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哥哥有 40 元，弟弟有 25 元。哥哥比弟弟多多少元？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915400" y="143560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15400" y="147218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482328" y="143560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82328" y="147218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049256" y="143560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49256" y="147218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3232" y="2926080"/>
            <a:ext cx="914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B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508760" y="2807208"/>
            <a:ext cx="704088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73352" y="2916936"/>
            <a:ext cx="6711696" cy="4389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每人有 3 本簿，全班有 20 人。一共有多少本簿？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915400" y="294436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15400" y="298094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482328" y="294436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82328" y="298094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0049256" y="294436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49256" y="298094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13232" y="4434840"/>
            <a:ext cx="914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C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508760" y="4315968"/>
            <a:ext cx="704088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73352" y="4425696"/>
            <a:ext cx="6711696" cy="4389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花店有 18 朵紅花和 15 朵黃花。花店共有多少朵花？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915400" y="445312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15400" y="448970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482328" y="445312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482328" y="448970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0049256" y="445312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9256" y="448970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10744200" y="1408176"/>
            <a:ext cx="277978" cy="160934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817352" y="1419149"/>
            <a:ext cx="131674" cy="117043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64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640" dirty="0"/>
          </a:p>
        </p:txBody>
      </p:sp>
      <p:sp>
        <p:nvSpPr>
          <p:cNvPr id="37" name="Shape 35"/>
          <p:cNvSpPr/>
          <p:nvPr/>
        </p:nvSpPr>
        <p:spPr>
          <a:xfrm>
            <a:off x="11007547" y="1408176"/>
            <a:ext cx="277978" cy="160934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080699" y="1419149"/>
            <a:ext cx="131674" cy="117043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64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640" dirty="0"/>
          </a:p>
        </p:txBody>
      </p:sp>
      <p:sp>
        <p:nvSpPr>
          <p:cNvPr id="39" name="Shape 37"/>
          <p:cNvSpPr/>
          <p:nvPr/>
        </p:nvSpPr>
        <p:spPr>
          <a:xfrm>
            <a:off x="10744200" y="1686154"/>
            <a:ext cx="277978" cy="160934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817352" y="1697126"/>
            <a:ext cx="131674" cy="117043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64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640" dirty="0"/>
          </a:p>
        </p:txBody>
      </p:sp>
      <p:sp>
        <p:nvSpPr>
          <p:cNvPr id="41" name="Shape 39"/>
          <p:cNvSpPr/>
          <p:nvPr/>
        </p:nvSpPr>
        <p:spPr>
          <a:xfrm>
            <a:off x="11007547" y="1686154"/>
            <a:ext cx="277978" cy="160934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080699" y="1697126"/>
            <a:ext cx="131674" cy="117043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64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640" dirty="0"/>
          </a:p>
        </p:txBody>
      </p:sp>
      <p:sp>
        <p:nvSpPr>
          <p:cNvPr id="43" name="Shape 41"/>
          <p:cNvSpPr/>
          <p:nvPr/>
        </p:nvSpPr>
        <p:spPr>
          <a:xfrm>
            <a:off x="10744200" y="1964131"/>
            <a:ext cx="277978" cy="160934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817352" y="1975104"/>
            <a:ext cx="131674" cy="117043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64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</a:t>
            </a:r>
            <a:endParaRPr lang="en-US" sz="640" dirty="0"/>
          </a:p>
        </p:txBody>
      </p:sp>
      <p:sp>
        <p:nvSpPr>
          <p:cNvPr id="45" name="Shape 43"/>
          <p:cNvSpPr/>
          <p:nvPr/>
        </p:nvSpPr>
        <p:spPr>
          <a:xfrm>
            <a:off x="10716768" y="2880360"/>
            <a:ext cx="190195" cy="248717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753344" y="2916936"/>
            <a:ext cx="0" cy="175565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10980115" y="2880360"/>
            <a:ext cx="190195" cy="248717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016691" y="2916936"/>
            <a:ext cx="0" cy="175565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10716768" y="3158338"/>
            <a:ext cx="190195" cy="248717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753344" y="3194914"/>
            <a:ext cx="0" cy="175565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10980115" y="3158338"/>
            <a:ext cx="190195" cy="248717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016691" y="3194914"/>
            <a:ext cx="0" cy="175565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53" name="Shape 51"/>
          <p:cNvSpPr/>
          <p:nvPr/>
        </p:nvSpPr>
        <p:spPr>
          <a:xfrm>
            <a:off x="10716768" y="4418381"/>
            <a:ext cx="190195" cy="190195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767974" y="4374490"/>
            <a:ext cx="87782" cy="8778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811866" y="4593946"/>
            <a:ext cx="0" cy="117043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10980115" y="4418381"/>
            <a:ext cx="190195" cy="190195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1031322" y="4374490"/>
            <a:ext cx="87782" cy="8778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1075213" y="4593946"/>
            <a:ext cx="0" cy="117043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10716768" y="4696358"/>
            <a:ext cx="190195" cy="190195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767974" y="4652467"/>
            <a:ext cx="87782" cy="8778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811866" y="4871923"/>
            <a:ext cx="0" cy="117043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62" name="Shape 60"/>
          <p:cNvSpPr/>
          <p:nvPr/>
        </p:nvSpPr>
        <p:spPr>
          <a:xfrm>
            <a:off x="10980115" y="4696358"/>
            <a:ext cx="190195" cy="190195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1031322" y="4652467"/>
            <a:ext cx="87782" cy="8778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1075213" y="4871923"/>
            <a:ext cx="0" cy="117043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65" name="Shape 63"/>
          <p:cNvSpPr/>
          <p:nvPr/>
        </p:nvSpPr>
        <p:spPr>
          <a:xfrm>
            <a:off x="10716768" y="4974336"/>
            <a:ext cx="190195" cy="190195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767974" y="4930445"/>
            <a:ext cx="87782" cy="8778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811866" y="5149901"/>
            <a:ext cx="0" cy="117043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68" name="Shape 66"/>
          <p:cNvSpPr/>
          <p:nvPr/>
        </p:nvSpPr>
        <p:spPr>
          <a:xfrm>
            <a:off x="10980115" y="4974336"/>
            <a:ext cx="190195" cy="190195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1031322" y="4930445"/>
            <a:ext cx="87782" cy="8778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1075213" y="5149901"/>
            <a:ext cx="0" cy="117043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none"/>
          </a:ln>
        </p:spPr>
      </p:sp>
      <p:sp>
        <p:nvSpPr>
          <p:cNvPr id="71" name="Text 69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E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DDD6FE">
              <a:alpha val="75000"/>
            </a:srgbClr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混合練習 2 講解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講解：每題都跟同一個流程分析。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94360" y="1078992"/>
            <a:ext cx="160020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152144"/>
            <a:ext cx="154533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圈重點字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31136" y="1271016"/>
            <a:ext cx="164592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87168" y="1078992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152144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找資料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9624" y="1271016"/>
            <a:ext cx="164592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105656" y="1078992"/>
            <a:ext cx="1536192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33088" y="1152144"/>
            <a:ext cx="1481328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判斷意思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78424" y="1271016"/>
            <a:ext cx="164592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34456" y="1078992"/>
            <a:ext cx="1417320" cy="384048"/>
          </a:xfrm>
          <a:prstGeom prst="roundRect">
            <a:avLst/>
          </a:prstGeom>
          <a:solidFill>
            <a:srgbClr val="7C3AED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61888" y="1152144"/>
            <a:ext cx="136245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選運算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88352" y="1271016"/>
            <a:ext cx="164592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644384" y="1078992"/>
            <a:ext cx="1325880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71816" y="1152144"/>
            <a:ext cx="1271016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寫算式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3232" y="1691640"/>
            <a:ext cx="10332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" y="1947672"/>
            <a:ext cx="384048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325880" y="1901952"/>
            <a:ext cx="1005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A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1325880" y="2313432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53312" y="233172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743200" y="2295144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比……多多少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325880" y="2715768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53312" y="2734056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743200" y="2697480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比較差距，用減法。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325880" y="3108960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53312" y="312724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743200" y="3090672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 － 25 ＝ 15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713232" y="4023360"/>
            <a:ext cx="10332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1325880" y="4233672"/>
            <a:ext cx="1005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B</a:t>
            </a:r>
            <a:endParaRPr lang="en-US" sz="1900" dirty="0"/>
          </a:p>
        </p:txBody>
      </p:sp>
      <p:sp>
        <p:nvSpPr>
          <p:cNvPr id="37" name="Shape 35"/>
          <p:cNvSpPr/>
          <p:nvPr/>
        </p:nvSpPr>
        <p:spPr>
          <a:xfrm>
            <a:off x="1325880" y="4645152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53312" y="466344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743200" y="4626864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每人、有 20 人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325880" y="5047488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353312" y="5065776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743200" y="5029200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每人一樣多，用乘法。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1325880" y="5440680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53312" y="545896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743200" y="5422392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× 20 ＝ 60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713232" y="6355080"/>
            <a:ext cx="10332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96112" y="6611112"/>
            <a:ext cx="384048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600" dirty="0"/>
          </a:p>
        </p:txBody>
      </p:sp>
      <p:sp>
        <p:nvSpPr>
          <p:cNvPr id="48" name="Text 46"/>
          <p:cNvSpPr/>
          <p:nvPr/>
        </p:nvSpPr>
        <p:spPr>
          <a:xfrm>
            <a:off x="1325880" y="6565392"/>
            <a:ext cx="1005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C</a:t>
            </a:r>
            <a:endParaRPr lang="en-US" sz="1900" dirty="0"/>
          </a:p>
        </p:txBody>
      </p:sp>
      <p:sp>
        <p:nvSpPr>
          <p:cNvPr id="49" name="Shape 47"/>
          <p:cNvSpPr/>
          <p:nvPr/>
        </p:nvSpPr>
        <p:spPr>
          <a:xfrm>
            <a:off x="1325880" y="6976872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353312" y="699516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743200" y="6958584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紅花和黃花合起來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1325880" y="7379208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53312" y="7397496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2743200" y="7360920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兩種花合共，用加法。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1325880" y="7772400"/>
            <a:ext cx="1234440" cy="310896"/>
          </a:xfrm>
          <a:prstGeom prst="roundRect">
            <a:avLst/>
          </a:prstGeom>
          <a:solidFill>
            <a:srgbClr val="F3E8FF"/>
          </a:solidFill>
          <a:ln w="21590">
            <a:solidFill>
              <a:srgbClr val="7C3AE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353312" y="779068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2743200" y="7754112"/>
            <a:ext cx="74523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 ＋ 15 ＝ 33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5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EFFF"/>
          </a:solidFill>
          <a:ln w="12700">
            <a:solidFill>
              <a:srgbClr val="E5E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BFD6FF">
              <a:alpha val="75000"/>
            </a:srgbClr>
          </a:solidFill>
          <a:ln w="12700">
            <a:solidFill>
              <a:srgbClr val="BFD6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容易混淆題 1：看到「一共」不一定是加法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例題：跟着流程，一步一步判斷。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58368" y="1143000"/>
            <a:ext cx="69037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FD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252728"/>
            <a:ext cx="6574536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每盒有 8 粒朱古力，有 3 盒。一共有多少粒朱古力？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圈出重點字眼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24028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6771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42900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5643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 3 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1772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4515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一共有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3232" y="2880360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" y="289864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30552" y="2862072"/>
            <a:ext cx="480060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「每盒」表示每組數量相同。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13232" y="3456432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" y="347472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運算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30552" y="3438144"/>
            <a:ext cx="480060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乘法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713232" y="4224528"/>
            <a:ext cx="5943600" cy="10515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416552"/>
            <a:ext cx="55321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× 3 ＝ 24</a:t>
            </a:r>
            <a:endParaRPr lang="en-US" sz="3400" dirty="0"/>
          </a:p>
        </p:txBody>
      </p:sp>
      <p:sp>
        <p:nvSpPr>
          <p:cNvPr id="25" name="Shape 23"/>
          <p:cNvSpPr/>
          <p:nvPr/>
        </p:nvSpPr>
        <p:spPr>
          <a:xfrm>
            <a:off x="7818120" y="1170432"/>
            <a:ext cx="3383280" cy="4663440"/>
          </a:xfrm>
          <a:prstGeom prst="roundRect">
            <a:avLst/>
          </a:prstGeom>
          <a:solidFill>
            <a:srgbClr val="FFFFFF">
              <a:alpha val="96000"/>
            </a:srgbClr>
          </a:solidFill>
          <a:ln w="25400">
            <a:solidFill>
              <a:srgbClr val="BFD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0" y="1508760"/>
            <a:ext cx="301752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錯誤想法：看到「一共」就用加法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83880" y="2721254"/>
            <a:ext cx="1008126" cy="528066"/>
          </a:xfrm>
          <a:prstGeom prst="roundRect">
            <a:avLst/>
          </a:prstGeom>
          <a:solidFill>
            <a:srgbClr val="BFD6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31886" y="2778862"/>
            <a:ext cx="912114" cy="17282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盒1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8308696" y="2327605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67928" y="2327605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27160" y="2327605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08696" y="2601239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67928" y="2601239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27160" y="2601239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08696" y="2874874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67928" y="2874874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01200" y="2721254"/>
            <a:ext cx="1008126" cy="528066"/>
          </a:xfrm>
          <a:prstGeom prst="roundRect">
            <a:avLst/>
          </a:prstGeom>
          <a:solidFill>
            <a:srgbClr val="BFD6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9206" y="2778862"/>
            <a:ext cx="912114" cy="17282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盒2</a:t>
            </a:r>
            <a:endParaRPr lang="en-US" sz="788" dirty="0"/>
          </a:p>
        </p:txBody>
      </p:sp>
      <p:sp>
        <p:nvSpPr>
          <p:cNvPr id="39" name="Shape 37"/>
          <p:cNvSpPr/>
          <p:nvPr/>
        </p:nvSpPr>
        <p:spPr>
          <a:xfrm>
            <a:off x="9726016" y="2327605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85248" y="2327605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44480" y="2327605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726016" y="2601239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985248" y="2601239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244480" y="2601239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6016" y="2874874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985248" y="2874874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83880" y="4367174"/>
            <a:ext cx="1008126" cy="528066"/>
          </a:xfrm>
          <a:prstGeom prst="roundRect">
            <a:avLst/>
          </a:prstGeom>
          <a:solidFill>
            <a:srgbClr val="BFD6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31886" y="4424782"/>
            <a:ext cx="912114" cy="17282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盒3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8308696" y="3973525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567928" y="3973525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827160" y="3973525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08696" y="4247159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567928" y="4247159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27160" y="4247159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8696" y="4520794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567928" y="4520794"/>
            <a:ext cx="187223" cy="187223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0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0D8"/>
          </a:solidFill>
          <a:ln w="12700">
            <a:solidFill>
              <a:srgbClr val="FFF0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FCD99B">
              <a:alpha val="75000"/>
            </a:srgbClr>
          </a:solidFill>
          <a:ln w="12700">
            <a:solidFill>
              <a:srgbClr val="FCD99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容易混淆題 2：看到「多」不一定是加法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例題：跟着流程，一步一步判斷。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58368" y="1143000"/>
            <a:ext cx="69037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99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252728"/>
            <a:ext cx="6574536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小華有 22 張貼紙，小美有 15 張貼紙。小華比小美多多少張？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圈出重點字眼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240280" y="2176272"/>
            <a:ext cx="1005840" cy="310896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67712" y="2194560"/>
            <a:ext cx="9509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比小美多多少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3232" y="2880360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289864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30552" y="2862072"/>
            <a:ext cx="480060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「比……多多少」是在比較差距。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13232" y="3456432"/>
            <a:ext cx="1234440" cy="310896"/>
          </a:xfrm>
          <a:prstGeom prst="roundRect">
            <a:avLst/>
          </a:prstGeom>
          <a:solidFill>
            <a:srgbClr val="FFF0D8"/>
          </a:solidFill>
          <a:ln w="2159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" y="347472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30552" y="3438144"/>
            <a:ext cx="480060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減法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713232" y="4224528"/>
            <a:ext cx="5943600" cy="10515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416552"/>
            <a:ext cx="55321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 － 15 ＝ 7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7818120" y="1170432"/>
            <a:ext cx="3383280" cy="4663440"/>
          </a:xfrm>
          <a:prstGeom prst="roundRect">
            <a:avLst/>
          </a:prstGeom>
          <a:solidFill>
            <a:srgbClr val="FFFFFF">
              <a:alpha val="96000"/>
            </a:srgbClr>
          </a:solidFill>
          <a:ln w="25400">
            <a:solidFill>
              <a:srgbClr val="FCD99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0" y="1508760"/>
            <a:ext cx="301752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錯誤想法：看到「多」就用加法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6720" y="2532888"/>
            <a:ext cx="11430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小華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189720" y="2532888"/>
            <a:ext cx="2240280" cy="384048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521440" y="2578608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046720" y="3246120"/>
            <a:ext cx="11430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小美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189720" y="3246120"/>
            <a:ext cx="1527464" cy="384048"/>
          </a:xfrm>
          <a:prstGeom prst="roundRect">
            <a:avLst/>
          </a:prstGeom>
          <a:solidFill>
            <a:srgbClr val="FCD99B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808624" y="3291840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717184" y="3063240"/>
            <a:ext cx="712816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10854344" y="2843784"/>
            <a:ext cx="658368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差距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E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DDD6FE">
              <a:alpha val="75000"/>
            </a:srgbClr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全班即時挑戰：只判斷運算，不用計算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每題旁邊選 ＋、－、×。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13232" y="1143000"/>
            <a:ext cx="320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60704" y="1051560"/>
            <a:ext cx="6949440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25296" y="1161288"/>
            <a:ext cx="6620256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每袋有 9 個波，有 4 袋。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412480" y="1124712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1161288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979408" y="1124712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79408" y="1161288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546336" y="1124712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46336" y="1161288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3232" y="1929384"/>
            <a:ext cx="320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60704" y="1837944"/>
            <a:ext cx="6949440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25296" y="1947672"/>
            <a:ext cx="6620256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小明有 18 元，買文具用了 6 元。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412480" y="1911096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1947672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979408" y="1911096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79408" y="1947672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546336" y="1911096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46336" y="1947672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13232" y="2715768"/>
            <a:ext cx="320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60704" y="2624328"/>
            <a:ext cx="6949440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25296" y="2734056"/>
            <a:ext cx="6620256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甲組有 11 人，乙組有 13 人。兩組共有多少人？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412480" y="2697480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734056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979408" y="2697480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79408" y="2734056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546336" y="2697480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46336" y="2734056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13232" y="3502152"/>
            <a:ext cx="320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060704" y="3410712"/>
            <a:ext cx="6949440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25296" y="3520440"/>
            <a:ext cx="6620256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媽媽有 30 個口罩，用去了 12 個。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412480" y="3483864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12480" y="3520440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979408" y="3483864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79408" y="3520440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9546336" y="3483864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546336" y="3520440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13232" y="4288536"/>
            <a:ext cx="320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060704" y="4197096"/>
            <a:ext cx="6949440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225296" y="4306824"/>
            <a:ext cx="6620256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每張桌子放 4 本書，有 6 張桌子。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412480" y="427024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412480" y="430682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8979408" y="427024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979408" y="430682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9546336" y="4270248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546336" y="4306824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13232" y="5074920"/>
            <a:ext cx="320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1060704" y="4983480"/>
            <a:ext cx="6949440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F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225296" y="5093208"/>
            <a:ext cx="6620256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哥哥有 28 粒糖，妹妹有 19 粒糖。哥哥比妹妹多多少粒？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8412480" y="5056632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412480" y="5093208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8979408" y="5056632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979408" y="5093208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9546336" y="5056632"/>
            <a:ext cx="438912" cy="3474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546336" y="5093208"/>
            <a:ext cx="438912" cy="210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E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DDD6FE">
              <a:alpha val="75000"/>
            </a:srgbClr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即時挑戰答案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說出原因，比只說答案更重要。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822960" y="1417320"/>
            <a:ext cx="45720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1618488"/>
            <a:ext cx="364846" cy="36484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7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470" dirty="0"/>
          </a:p>
        </p:txBody>
      </p:sp>
      <p:sp>
        <p:nvSpPr>
          <p:cNvPr id="10" name="Text 8"/>
          <p:cNvSpPr/>
          <p:nvPr/>
        </p:nvSpPr>
        <p:spPr>
          <a:xfrm>
            <a:off x="1389888" y="1581912"/>
            <a:ext cx="123444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乘法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788920" y="1627632"/>
            <a:ext cx="2331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每袋、有 4 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72200" y="1417320"/>
            <a:ext cx="45720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36792" y="1618488"/>
            <a:ext cx="364846" cy="36484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7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470" dirty="0"/>
          </a:p>
        </p:txBody>
      </p:sp>
      <p:sp>
        <p:nvSpPr>
          <p:cNvPr id="14" name="Text 12"/>
          <p:cNvSpPr/>
          <p:nvPr/>
        </p:nvSpPr>
        <p:spPr>
          <a:xfrm>
            <a:off x="6739128" y="1581912"/>
            <a:ext cx="123444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減法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138160" y="1627632"/>
            <a:ext cx="2331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用了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2960" y="2834640"/>
            <a:ext cx="45720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8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3035808"/>
            <a:ext cx="364846" cy="36484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7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470" dirty="0"/>
          </a:p>
        </p:txBody>
      </p:sp>
      <p:sp>
        <p:nvSpPr>
          <p:cNvPr id="18" name="Text 16"/>
          <p:cNvSpPr/>
          <p:nvPr/>
        </p:nvSpPr>
        <p:spPr>
          <a:xfrm>
            <a:off x="1389888" y="2999232"/>
            <a:ext cx="123444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加法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2788920" y="3044952"/>
            <a:ext cx="2331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共有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172200" y="2834640"/>
            <a:ext cx="45720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36792" y="3035808"/>
            <a:ext cx="364846" cy="36484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7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470" dirty="0"/>
          </a:p>
        </p:txBody>
      </p:sp>
      <p:sp>
        <p:nvSpPr>
          <p:cNvPr id="22" name="Text 20"/>
          <p:cNvSpPr/>
          <p:nvPr/>
        </p:nvSpPr>
        <p:spPr>
          <a:xfrm>
            <a:off x="6739128" y="2999232"/>
            <a:ext cx="123444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減法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138160" y="3044952"/>
            <a:ext cx="2331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用去了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22960" y="4251960"/>
            <a:ext cx="45720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7552" y="4453128"/>
            <a:ext cx="364846" cy="36484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7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470" dirty="0"/>
          </a:p>
        </p:txBody>
      </p:sp>
      <p:sp>
        <p:nvSpPr>
          <p:cNvPr id="26" name="Text 24"/>
          <p:cNvSpPr/>
          <p:nvPr/>
        </p:nvSpPr>
        <p:spPr>
          <a:xfrm>
            <a:off x="1389888" y="4416552"/>
            <a:ext cx="123444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 乘法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2788920" y="4462272"/>
            <a:ext cx="2331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每張、有 6 張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172200" y="4251960"/>
            <a:ext cx="45720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4453128"/>
            <a:ext cx="364846" cy="36484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70" b="1" dirty="0">
                <a:solidFill>
                  <a:srgbClr val="16653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470" dirty="0"/>
          </a:p>
        </p:txBody>
      </p:sp>
      <p:sp>
        <p:nvSpPr>
          <p:cNvPr id="30" name="Text 28"/>
          <p:cNvSpPr/>
          <p:nvPr/>
        </p:nvSpPr>
        <p:spPr>
          <a:xfrm>
            <a:off x="6739128" y="4416552"/>
            <a:ext cx="123444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 減法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8138160" y="4462272"/>
            <a:ext cx="2331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比……多多少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5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EFFF"/>
          </a:solidFill>
          <a:ln w="12700">
            <a:solidFill>
              <a:srgbClr val="E5E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BFD6FF">
              <a:alpha val="75000"/>
            </a:srgbClr>
          </a:solidFill>
          <a:ln w="12700">
            <a:solidFill>
              <a:srgbClr val="BFD6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完整解題練習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學生填寫完整分析流程。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85800" y="1143000"/>
            <a:ext cx="104241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FD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252728"/>
            <a:ext cx="10094976" cy="6492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每位學生有 4 張工作紙，班中有 23 位學生。老師一共要準備多少張工作紙？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822960" y="2331720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235000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240280" y="2514600"/>
            <a:ext cx="8092440" cy="0"/>
          </a:xfrm>
          <a:prstGeom prst="line">
            <a:avLst/>
          </a:prstGeom>
          <a:noFill/>
          <a:ln w="2032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822960" y="2926080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0392" y="294436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題目資料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240280" y="3108960"/>
            <a:ext cx="8092440" cy="0"/>
          </a:xfrm>
          <a:prstGeom prst="line">
            <a:avLst/>
          </a:prstGeom>
          <a:noFill/>
          <a:ln w="2032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822960" y="3520440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353872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判斷原因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240280" y="3703320"/>
            <a:ext cx="8092440" cy="0"/>
          </a:xfrm>
          <a:prstGeom prst="line">
            <a:avLst/>
          </a:prstGeom>
          <a:noFill/>
          <a:ln w="2032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822960" y="4114800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413308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運算方法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240280" y="4297680"/>
            <a:ext cx="8092440" cy="0"/>
          </a:xfrm>
          <a:prstGeom prst="line">
            <a:avLst/>
          </a:prstGeom>
          <a:noFill/>
          <a:ln w="2032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822960" y="4709160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472744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240280" y="4892040"/>
            <a:ext cx="8092440" cy="0"/>
          </a:xfrm>
          <a:prstGeom prst="line">
            <a:avLst/>
          </a:prstGeom>
          <a:noFill/>
          <a:ln w="2032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822960" y="5303520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" y="532180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答案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240280" y="5486400"/>
            <a:ext cx="8092440" cy="0"/>
          </a:xfrm>
          <a:prstGeom prst="line">
            <a:avLst/>
          </a:prstGeom>
          <a:noFill/>
          <a:ln w="20320">
            <a:solidFill>
              <a:srgbClr val="CBD5E1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10012680" y="5257800"/>
            <a:ext cx="510235" cy="641909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94976" y="5405933"/>
            <a:ext cx="345643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10094976" y="5537606"/>
            <a:ext cx="345643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10094976" y="5669280"/>
            <a:ext cx="263347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5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EFFF"/>
          </a:solidFill>
          <a:ln w="12700">
            <a:solidFill>
              <a:srgbClr val="E5E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BFD6FF">
              <a:alpha val="75000"/>
            </a:srgbClr>
          </a:solidFill>
          <a:ln w="12700">
            <a:solidFill>
              <a:srgbClr val="BFD6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完整解題講解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完整答案示範。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25272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重點字眼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212848" y="1225296"/>
            <a:ext cx="804672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每位、有 23 位、一共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77240" y="1892808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1911096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題目資料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12848" y="1883664"/>
            <a:ext cx="804672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每位學生 4 張工作紙，共有 23 位學生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77240" y="2551176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2569464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判斷原因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12848" y="2542032"/>
            <a:ext cx="804672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每位學生的工作紙數量相同，有 23 組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77240" y="3209544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3227832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運算方法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212848" y="3200400"/>
            <a:ext cx="804672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乘法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77240" y="3867912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3886200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算式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212848" y="3858768"/>
            <a:ext cx="804672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× 23 ＝ 92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777240" y="4526280"/>
            <a:ext cx="1234440" cy="310896"/>
          </a:xfrm>
          <a:prstGeom prst="roundRect">
            <a:avLst/>
          </a:prstGeom>
          <a:solidFill>
            <a:srgbClr val="E5EFFF"/>
          </a:solidFill>
          <a:ln w="2159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" y="4544568"/>
            <a:ext cx="117957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答案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212848" y="4517136"/>
            <a:ext cx="804672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老師一共要準備 92 張工作紙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869680" y="4870094"/>
            <a:ext cx="1008126" cy="528066"/>
          </a:xfrm>
          <a:prstGeom prst="roundRect">
            <a:avLst/>
          </a:prstGeom>
          <a:solidFill>
            <a:srgbClr val="BFD6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17686" y="4927702"/>
            <a:ext cx="912114" cy="17282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學生1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8994496" y="4447642"/>
            <a:ext cx="187223" cy="244831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30500" y="4483646"/>
            <a:ext cx="0" cy="172822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253728" y="4447642"/>
            <a:ext cx="187223" cy="244831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89732" y="4483646"/>
            <a:ext cx="0" cy="172822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512960" y="4447642"/>
            <a:ext cx="187223" cy="244831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48965" y="4483646"/>
            <a:ext cx="0" cy="172822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8994496" y="4721276"/>
            <a:ext cx="187223" cy="244831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30500" y="4757280"/>
            <a:ext cx="0" cy="172822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0287000" y="4870094"/>
            <a:ext cx="1008126" cy="528066"/>
          </a:xfrm>
          <a:prstGeom prst="roundRect">
            <a:avLst/>
          </a:prstGeom>
          <a:solidFill>
            <a:srgbClr val="BFD6FF"/>
          </a:solidFill>
          <a:ln w="1778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335006" y="4927702"/>
            <a:ext cx="912114" cy="17282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學生2</a:t>
            </a:r>
            <a:endParaRPr lang="en-US" sz="788" dirty="0"/>
          </a:p>
        </p:txBody>
      </p:sp>
      <p:sp>
        <p:nvSpPr>
          <p:cNvPr id="38" name="Shape 36"/>
          <p:cNvSpPr/>
          <p:nvPr/>
        </p:nvSpPr>
        <p:spPr>
          <a:xfrm>
            <a:off x="10411816" y="4447642"/>
            <a:ext cx="187223" cy="244831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447820" y="4483646"/>
            <a:ext cx="0" cy="172822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10671048" y="4447642"/>
            <a:ext cx="187223" cy="244831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07053" y="4483646"/>
            <a:ext cx="0" cy="172822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10930280" y="4447642"/>
            <a:ext cx="187223" cy="244831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966285" y="4483646"/>
            <a:ext cx="0" cy="172822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10411816" y="4721276"/>
            <a:ext cx="187223" cy="244831"/>
          </a:xfrm>
          <a:prstGeom prst="rect">
            <a:avLst/>
          </a:prstGeom>
          <a:solidFill>
            <a:srgbClr val="60A5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447820" y="4757280"/>
            <a:ext cx="0" cy="172822"/>
          </a:xfrm>
          <a:prstGeom prst="line">
            <a:avLst/>
          </a:prstGeom>
          <a:noFill/>
          <a:ln w="1143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3E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86032" y="0"/>
            <a:ext cx="502920" cy="6858000"/>
          </a:xfrm>
          <a:prstGeom prst="rect">
            <a:avLst/>
          </a:prstGeom>
          <a:solidFill>
            <a:srgbClr val="DDD6FE">
              <a:alpha val="75000"/>
            </a:srgbClr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做文字題的重點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30352" y="786384"/>
            <a:ext cx="93268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先理解，再計算。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52760" y="192024"/>
            <a:ext cx="6858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868680" y="1417320"/>
            <a:ext cx="640080" cy="640080"/>
          </a:xfrm>
          <a:prstGeom prst="ellipse">
            <a:avLst/>
          </a:prstGeom>
          <a:solidFill>
            <a:srgbClr val="FFFFFF">
              <a:alpha val="0"/>
            </a:srgbClr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37310" y="1908810"/>
            <a:ext cx="320040" cy="320040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874520" y="1572768"/>
            <a:ext cx="7863840" cy="4389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不要一看到數字就計算。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874520" y="2148840"/>
            <a:ext cx="7863840" cy="4389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先圈重點字眼，再判斷題目意思。</a:t>
            </a:r>
            <a:endParaRPr lang="en-US" sz="2500" dirty="0"/>
          </a:p>
        </p:txBody>
      </p:sp>
      <p:sp>
        <p:nvSpPr>
          <p:cNvPr id="12" name="Shape 10"/>
          <p:cNvSpPr/>
          <p:nvPr/>
        </p:nvSpPr>
        <p:spPr>
          <a:xfrm>
            <a:off x="868680" y="3657600"/>
            <a:ext cx="2971800" cy="1508760"/>
          </a:xfrm>
          <a:prstGeom prst="roundRect">
            <a:avLst/>
          </a:prstGeom>
          <a:solidFill>
            <a:srgbClr val="E3F8EB"/>
          </a:solidFill>
          <a:ln w="25400">
            <a:solidFill>
              <a:srgbClr val="1B8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822192"/>
            <a:ext cx="5943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1737360" y="3822192"/>
            <a:ext cx="15087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8A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加法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80160" y="4462272"/>
            <a:ext cx="22402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合起來、增加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0" y="3657600"/>
            <a:ext cx="2971800" cy="1508760"/>
          </a:xfrm>
          <a:prstGeom prst="roundRect">
            <a:avLst/>
          </a:prstGeom>
          <a:solidFill>
            <a:srgbClr val="FFF0D8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3822192"/>
            <a:ext cx="5943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－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5440680" y="3822192"/>
            <a:ext cx="15087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減法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983480" y="4462272"/>
            <a:ext cx="22402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拿走、剩下、比較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275320" y="3657600"/>
            <a:ext cx="2971800" cy="1508760"/>
          </a:xfrm>
          <a:prstGeom prst="roundRect">
            <a:avLst/>
          </a:prstGeom>
          <a:solidFill>
            <a:srgbClr val="E5EFF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58200" y="3822192"/>
            <a:ext cx="5943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9144000" y="3822192"/>
            <a:ext cx="15087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乘法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686800" y="4462272"/>
            <a:ext cx="22402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每組一樣多，有很多組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430000" y="6428232"/>
            <a:ext cx="4114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文字題實戰：判斷加法、減法、乘法</dc:title>
  <dc:subject>文字題實戰：判斷加法、減法、乘法</dc:subject>
  <dc:creator>Codex</dc:creator>
  <cp:lastModifiedBy>Codex</cp:lastModifiedBy>
  <cp:revision>1</cp:revision>
  <dcterms:created xsi:type="dcterms:W3CDTF">2026-04-28T08:54:52Z</dcterms:created>
  <dcterms:modified xsi:type="dcterms:W3CDTF">2026-04-28T08:54:52Z</dcterms:modified>
</cp:coreProperties>
</file>